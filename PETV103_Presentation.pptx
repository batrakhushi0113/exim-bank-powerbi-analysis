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Khushi, and this is my end-term viva presentation for PETV103, the Execution Certification on Data Science, completed as part of my Summer Internship SDC. In the next few minutes I will walk through what I learned during the course, the tools I used, my internship project on EXIM Bank financing data, and my individual contribution. Likely question: "Briefly, what was this course about?" — Answer: it gave hands-on exposure to the full data analytics workflow, from programming and querying to visualization and business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a quick overview of what PETV103 actually covered. I want to emphasize that the course was practical, not just lecture-based — we moved data through a real pipeline: from raw data, through programming languages, into cleaning, analysis, visualization, and finally business insight. Likely question: "Why is this journey important?" — Answer: it mirrors the real-world data analytics workflow used in industry, which is exactly what the internship project also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technical curriculum actually covered in PETV103: Python and SQL for programming and querying, and Power BI and Tableau as the business intelligence tools we practiced. Likely question: "Which of these did you use the most in your project?" — Answer: primarily Power BI, which I will detail shortly; the others built the foundational skills that supported that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trace my personal learning path across the four tools I actually studied in sequence — starting with programming and querying fundamentals in Python and SQL, and moving into business-intelligence tools with Power BI and Tableau. The unifying goal across all of it was the same: turning raw data into actionable insight. Likely question: "How do these tools connect to each other in a real project?" — Answer: Python and SQL handle preparation and analysis, while Power BI and Tableau handle the visualization and decision-support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reserved for my official course completion certificate. [Insert and show the certificate here during the actual presentation.] It confirms formal completion of the Summer Internship SDC course under PETV103. Likely question: "Who issued this certificate?" — Answer: to be filled in based on the actual issuing institution/platform once the certificate is inserted.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internship project involved analyzing EXIM Bank financing data — a real dataset of over 52,000 records across 34 columns covering fiscal years, countries, programs, and financing amounts. The objective was to convert this raw Excel data into an interactive Power BI dashboard. Likely question: "Why was this dataset chosen?" — Answer: it offered a rich, realistic, multi-dimensional financial dataset well-suited to demonstrating the full BI workflow taught in the course. Likely question: "What does EXIM Bank do?" — be ready to briefly explain export-import financing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the exact pipeline I followed: starting from the raw Excel dataset, importing it into Power BI, cleaning and reshaping it in Power Query, building DAX measures for KPIs, creating visuals, and finally assembling everything into one interactive dashboard that supports business decisions. Likely question: "What is Power Query used for?" — Answer: cleaning, filtering, and reshaping raw data before it is loaded into the data model. Likely question: "What is DAX?" — Answer: Data Analysis Expressions, the formula language used in Power BI to create calculated measures and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reserved for an actual screenshot of my Power BI dashboard. [Insert the real dashboard image here before presenting.] Around it, I have listed the core visual components: KPI cards summarizing key numbers, a line chart for year-wise trends, a donut chart for program-wise distribution, bar charts for country and exporter-state analysis, a filled map for geography, and slicers for interactivity. Likely question: "Why did you choose a filled map here?" — Answer: to make geographic concentration of financing immediately visible at a glance. I will not state specific numerical results unless they are drawn directly from the actual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clearly separates my individual contribution from my teammate's. My role was concentrated on the technical build: importing and cleaning the data, writing DAX measures, and building out the KPI cards, visuals, slicers and overall dashboard layout. My teammate focused on requirements understanding, KPI selection, validation, and documentation. Likely question: "How was work divided between you two?" — Answer: work was split roughly equally by responsibility area, with both of us collaborating closely during final review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dimensions the dashboard enables analysis across — from headline totals like authorized and disbursed financing, to trends over fiscal years, program and country breakdowns, exporter-state performance, and small-business financing. I want to be transparent that I am presenting the analytical capability of the dashboard rather than quoting specific figures, since those come directly from the live project file. Likely question: "Can you share one specific number from the dashboard?" — Answer: only if you have the real dashboard open or the actual figure available; otherwise explain that figures will be shown live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grouped my key learnings into three categories: technical skills across the tools taught, analytical thinking skills like exploratory analysis and KPI selection, and professional skills like collaboration and communicating technical work to others. The biggest takeaway for me is captured in this quote — that analytics is fundamentally about turning data into decisions, not just producing charts. Likely question: "What was the hardest thing you learned?" — be ready with a genuine, brief personal answer based on your own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PETV103 gave me end-to-end, practical exposure to the data analytics workflow, and the EXIM Bank project let me apply it to a real financial dataset with a working Power BI dashboard. Looking ahead, I would like to extend this work with advanced DAX, year-over-year and forecasting analysis, and eventually explore machine learning integration. Thank you — I am happy to take questions. Likely question: "If you had more time, what would you add first?" — Answer: likely year-over-year trend analysis and deeper risk/exposure analysis, since these build most directly on the existing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2.png"/><Relationship Id="rId5" Type="http://schemas.openxmlformats.org/officeDocument/2006/relationships/image" Target="../media/image-7-5.png"/><Relationship Id="rId6" Type="http://schemas.openxmlformats.org/officeDocument/2006/relationships/image" Target="../media/image-7-2.png"/><Relationship Id="rId7" Type="http://schemas.openxmlformats.org/officeDocument/2006/relationships/image" Target="../media/image-7-7.png"/><Relationship Id="rId8" Type="http://schemas.openxmlformats.org/officeDocument/2006/relationships/image" Target="../media/image-7-2.png"/><Relationship Id="rId9" Type="http://schemas.openxmlformats.org/officeDocument/2006/relationships/image" Target="../media/image-7-9.png"/><Relationship Id="rId10" Type="http://schemas.openxmlformats.org/officeDocument/2006/relationships/image" Target="../media/image-7-2.png"/><Relationship Id="rId11" Type="http://schemas.openxmlformats.org/officeDocument/2006/relationships/image" Target="../media/image-7-11.png"/><Relationship Id="rId12" Type="http://schemas.openxmlformats.org/officeDocument/2006/relationships/image" Target="../media/image-7-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5.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1E2761">
              <a:alpha val="60000"/>
            </a:srgbClr>
          </a:solidFill>
          <a:ln/>
        </p:spPr>
      </p:sp>
      <p:sp>
        <p:nvSpPr>
          <p:cNvPr id="3" name="Shape 1"/>
          <p:cNvSpPr/>
          <p:nvPr/>
        </p:nvSpPr>
        <p:spPr>
          <a:xfrm>
            <a:off x="-2011680" y="4206240"/>
            <a:ext cx="4754880" cy="4754880"/>
          </a:xfrm>
          <a:prstGeom prst="ellipse">
            <a:avLst/>
          </a:prstGeom>
          <a:solidFill>
            <a:srgbClr val="1E2761">
              <a:alpha val="55000"/>
            </a:srgbClr>
          </a:solidFill>
          <a:ln/>
        </p:spPr>
      </p:sp>
      <p:sp>
        <p:nvSpPr>
          <p:cNvPr id="4" name="Shape 2"/>
          <p:cNvSpPr/>
          <p:nvPr/>
        </p:nvSpPr>
        <p:spPr>
          <a:xfrm>
            <a:off x="9966960" y="4480560"/>
            <a:ext cx="2834640" cy="2834640"/>
          </a:xfrm>
          <a:prstGeom prst="ellipse">
            <a:avLst/>
          </a:prstGeom>
          <a:solidFill>
            <a:srgbClr val="CADCFC">
              <a:alpha val="12000"/>
            </a:srgbClr>
          </a:solidFill>
          <a:ln/>
        </p:spPr>
      </p:sp>
      <p:sp>
        <p:nvSpPr>
          <p:cNvPr id="5" name="Shape 3"/>
          <p:cNvSpPr/>
          <p:nvPr/>
        </p:nvSpPr>
        <p:spPr>
          <a:xfrm>
            <a:off x="548640" y="594360"/>
            <a:ext cx="640080" cy="640080"/>
          </a:xfrm>
          <a:prstGeom prst="ellipse">
            <a:avLst/>
          </a:prstGeom>
          <a:solidFill>
            <a:srgbClr val="1E2761"/>
          </a:solidFill>
          <a:ln/>
        </p:spPr>
      </p:sp>
      <p:pic>
        <p:nvPicPr>
          <p:cNvPr id="6" name="Image 0" descr="/home/claude/exim_deck/icons/python.png">    </p:cNvPr>
          <p:cNvPicPr>
            <a:picLocks noChangeAspect="1"/>
          </p:cNvPicPr>
          <p:nvPr/>
        </p:nvPicPr>
        <p:blipFill>
          <a:blip r:embed="rId1"/>
          <a:stretch>
            <a:fillRect/>
          </a:stretch>
        </p:blipFill>
        <p:spPr>
          <a:xfrm>
            <a:off x="631850" y="677570"/>
            <a:ext cx="473659" cy="473659"/>
          </a:xfrm>
          <a:prstGeom prst="rect">
            <a:avLst/>
          </a:prstGeom>
        </p:spPr>
      </p:pic>
      <p:sp>
        <p:nvSpPr>
          <p:cNvPr id="7" name="Shape 4"/>
          <p:cNvSpPr/>
          <p:nvPr/>
        </p:nvSpPr>
        <p:spPr>
          <a:xfrm>
            <a:off x="1444752" y="594360"/>
            <a:ext cx="640080" cy="640080"/>
          </a:xfrm>
          <a:prstGeom prst="ellipse">
            <a:avLst/>
          </a:prstGeom>
          <a:solidFill>
            <a:srgbClr val="1E2761"/>
          </a:solidFill>
          <a:ln/>
        </p:spPr>
      </p:sp>
      <p:pic>
        <p:nvPicPr>
          <p:cNvPr id="8" name="Image 1" descr="/home/claude/exim_deck/icons/sql.png">    </p:cNvPr>
          <p:cNvPicPr>
            <a:picLocks noChangeAspect="1"/>
          </p:cNvPicPr>
          <p:nvPr/>
        </p:nvPicPr>
        <p:blipFill>
          <a:blip r:embed="rId2"/>
          <a:stretch>
            <a:fillRect/>
          </a:stretch>
        </p:blipFill>
        <p:spPr>
          <a:xfrm>
            <a:off x="1527962" y="677570"/>
            <a:ext cx="473659" cy="473659"/>
          </a:xfrm>
          <a:prstGeom prst="rect">
            <a:avLst/>
          </a:prstGeom>
        </p:spPr>
      </p:pic>
      <p:sp>
        <p:nvSpPr>
          <p:cNvPr id="9" name="Shape 5"/>
          <p:cNvSpPr/>
          <p:nvPr/>
        </p:nvSpPr>
        <p:spPr>
          <a:xfrm>
            <a:off x="2340864" y="594360"/>
            <a:ext cx="640080" cy="640080"/>
          </a:xfrm>
          <a:prstGeom prst="ellipse">
            <a:avLst/>
          </a:prstGeom>
          <a:solidFill>
            <a:srgbClr val="1E2761"/>
          </a:solidFill>
          <a:ln/>
        </p:spPr>
      </p:sp>
      <p:pic>
        <p:nvPicPr>
          <p:cNvPr id="10" name="Image 2" descr="/home/claude/exim_deck/icons/powerbi.png">    </p:cNvPr>
          <p:cNvPicPr>
            <a:picLocks noChangeAspect="1"/>
          </p:cNvPicPr>
          <p:nvPr/>
        </p:nvPicPr>
        <p:blipFill>
          <a:blip r:embed="rId3"/>
          <a:stretch>
            <a:fillRect/>
          </a:stretch>
        </p:blipFill>
        <p:spPr>
          <a:xfrm>
            <a:off x="2424074" y="677570"/>
            <a:ext cx="473659" cy="473659"/>
          </a:xfrm>
          <a:prstGeom prst="rect">
            <a:avLst/>
          </a:prstGeom>
        </p:spPr>
      </p:pic>
      <p:sp>
        <p:nvSpPr>
          <p:cNvPr id="11" name="Shape 6"/>
          <p:cNvSpPr/>
          <p:nvPr/>
        </p:nvSpPr>
        <p:spPr>
          <a:xfrm>
            <a:off x="3236976" y="594360"/>
            <a:ext cx="640080" cy="640080"/>
          </a:xfrm>
          <a:prstGeom prst="ellipse">
            <a:avLst/>
          </a:prstGeom>
          <a:solidFill>
            <a:srgbClr val="1E2761"/>
          </a:solidFill>
          <a:ln/>
        </p:spPr>
      </p:sp>
      <p:pic>
        <p:nvPicPr>
          <p:cNvPr id="12" name="Image 3" descr="/home/claude/exim_deck/icons/tableau.png">    </p:cNvPr>
          <p:cNvPicPr>
            <a:picLocks noChangeAspect="1"/>
          </p:cNvPicPr>
          <p:nvPr/>
        </p:nvPicPr>
        <p:blipFill>
          <a:blip r:embed="rId4"/>
          <a:stretch>
            <a:fillRect/>
          </a:stretch>
        </p:blipFill>
        <p:spPr>
          <a:xfrm>
            <a:off x="3320186" y="677570"/>
            <a:ext cx="473659" cy="473659"/>
          </a:xfrm>
          <a:prstGeom prst="rect">
            <a:avLst/>
          </a:prstGeom>
        </p:spPr>
      </p:pic>
      <p:sp>
        <p:nvSpPr>
          <p:cNvPr id="13" name="Text 7"/>
          <p:cNvSpPr/>
          <p:nvPr/>
        </p:nvSpPr>
        <p:spPr>
          <a:xfrm>
            <a:off x="548640" y="2606040"/>
            <a:ext cx="105156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PETV103 — EXECUTION CERTIFICATION ON DATA SCIENCE</a:t>
            </a:r>
            <a:endParaRPr lang="en-US" sz="1300" dirty="0"/>
          </a:p>
        </p:txBody>
      </p:sp>
      <p:sp>
        <p:nvSpPr>
          <p:cNvPr id="14" name="Text 8"/>
          <p:cNvSpPr/>
          <p:nvPr/>
        </p:nvSpPr>
        <p:spPr>
          <a:xfrm>
            <a:off x="530352" y="2926080"/>
            <a:ext cx="1078992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Summer Internship SDC</a:t>
            </a:r>
            <a:endParaRPr lang="en-US" sz="4600" dirty="0"/>
          </a:p>
        </p:txBody>
      </p:sp>
      <p:sp>
        <p:nvSpPr>
          <p:cNvPr id="15" name="Text 9"/>
          <p:cNvSpPr/>
          <p:nvPr/>
        </p:nvSpPr>
        <p:spPr>
          <a:xfrm>
            <a:off x="548640" y="3703320"/>
            <a:ext cx="10058400" cy="502920"/>
          </a:xfrm>
          <a:prstGeom prst="rect">
            <a:avLst/>
          </a:prstGeom>
          <a:noFill/>
          <a:ln/>
        </p:spPr>
        <p:txBody>
          <a:bodyPr wrap="square" lIns="0" tIns="0" rIns="0" bIns="0"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Learning &amp; Project Presentation</a:t>
            </a:r>
            <a:endParaRPr lang="en-US" sz="1800" dirty="0"/>
          </a:p>
        </p:txBody>
      </p:sp>
      <p:sp>
        <p:nvSpPr>
          <p:cNvPr id="16" name="Shape 10"/>
          <p:cNvSpPr/>
          <p:nvPr/>
        </p:nvSpPr>
        <p:spPr>
          <a:xfrm>
            <a:off x="548640" y="4434840"/>
            <a:ext cx="4206240" cy="0"/>
          </a:xfrm>
          <a:prstGeom prst="line">
            <a:avLst/>
          </a:prstGeom>
          <a:noFill/>
          <a:ln w="15875">
            <a:solidFill>
              <a:srgbClr val="3C4693"/>
            </a:solidFill>
            <a:prstDash val="solid"/>
          </a:ln>
        </p:spPr>
      </p:sp>
      <p:sp>
        <p:nvSpPr>
          <p:cNvPr id="17" name="Text 11"/>
          <p:cNvSpPr/>
          <p:nvPr/>
        </p:nvSpPr>
        <p:spPr>
          <a:xfrm>
            <a:off x="548640" y="4663440"/>
            <a:ext cx="2194560" cy="274320"/>
          </a:xfrm>
          <a:prstGeom prst="rect">
            <a:avLst/>
          </a:prstGeom>
          <a:noFill/>
          <a:ln/>
        </p:spPr>
        <p:txBody>
          <a:bodyPr wrap="square" lIns="0" tIns="0" rIns="0" bIns="0" rtlCol="0" anchor="ctr"/>
          <a:lstStyle/>
          <a:p>
            <a:pPr indent="0" marL="0">
              <a:buNone/>
            </a:pPr>
            <a:r>
              <a:rPr lang="en-US" sz="1050" b="1" spc="100" kern="0" dirty="0">
                <a:solidFill>
                  <a:srgbClr val="8C96C7"/>
                </a:solidFill>
                <a:latin typeface="Calibri" pitchFamily="34" charset="0"/>
                <a:ea typeface="Calibri" pitchFamily="34" charset="-122"/>
                <a:cs typeface="Calibri" pitchFamily="34" charset="-120"/>
              </a:rPr>
              <a:t>PRESENTED BY</a:t>
            </a:r>
            <a:endParaRPr lang="en-US" sz="1050" dirty="0"/>
          </a:p>
        </p:txBody>
      </p:sp>
      <p:sp>
        <p:nvSpPr>
          <p:cNvPr id="18" name="Text 12"/>
          <p:cNvSpPr/>
          <p:nvPr/>
        </p:nvSpPr>
        <p:spPr>
          <a:xfrm>
            <a:off x="2788920" y="4663440"/>
            <a:ext cx="54864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Khushi</a:t>
            </a:r>
            <a:endParaRPr lang="en-US" sz="1250" dirty="0"/>
          </a:p>
        </p:txBody>
      </p:sp>
      <p:sp>
        <p:nvSpPr>
          <p:cNvPr id="19" name="Text 13"/>
          <p:cNvSpPr/>
          <p:nvPr/>
        </p:nvSpPr>
        <p:spPr>
          <a:xfrm>
            <a:off x="548640" y="4974336"/>
            <a:ext cx="2194560" cy="274320"/>
          </a:xfrm>
          <a:prstGeom prst="rect">
            <a:avLst/>
          </a:prstGeom>
          <a:noFill/>
          <a:ln/>
        </p:spPr>
        <p:txBody>
          <a:bodyPr wrap="square" lIns="0" tIns="0" rIns="0" bIns="0" rtlCol="0" anchor="ctr"/>
          <a:lstStyle/>
          <a:p>
            <a:pPr indent="0" marL="0">
              <a:buNone/>
            </a:pPr>
            <a:r>
              <a:rPr lang="en-US" sz="1050" b="1" spc="100" kern="0" dirty="0">
                <a:solidFill>
                  <a:srgbClr val="8C96C7"/>
                </a:solidFill>
                <a:latin typeface="Calibri" pitchFamily="34" charset="0"/>
                <a:ea typeface="Calibri" pitchFamily="34" charset="-122"/>
                <a:cs typeface="Calibri" pitchFamily="34" charset="-120"/>
              </a:rPr>
              <a:t>REGISTER NO.</a:t>
            </a:r>
            <a:endParaRPr lang="en-US" sz="1050" dirty="0"/>
          </a:p>
        </p:txBody>
      </p:sp>
      <p:sp>
        <p:nvSpPr>
          <p:cNvPr id="20" name="Text 14"/>
          <p:cNvSpPr/>
          <p:nvPr/>
        </p:nvSpPr>
        <p:spPr>
          <a:xfrm>
            <a:off x="2788920" y="4974336"/>
            <a:ext cx="54864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12403859</a:t>
            </a:r>
            <a:endParaRPr lang="en-US" sz="1250" dirty="0"/>
          </a:p>
        </p:txBody>
      </p:sp>
      <p:sp>
        <p:nvSpPr>
          <p:cNvPr id="21" name="Text 15"/>
          <p:cNvSpPr/>
          <p:nvPr/>
        </p:nvSpPr>
        <p:spPr>
          <a:xfrm>
            <a:off x="548640" y="5285232"/>
            <a:ext cx="2194560" cy="274320"/>
          </a:xfrm>
          <a:prstGeom prst="rect">
            <a:avLst/>
          </a:prstGeom>
          <a:noFill/>
          <a:ln/>
        </p:spPr>
        <p:txBody>
          <a:bodyPr wrap="square" lIns="0" tIns="0" rIns="0" bIns="0" rtlCol="0" anchor="ctr"/>
          <a:lstStyle/>
          <a:p>
            <a:pPr indent="0" marL="0">
              <a:buNone/>
            </a:pPr>
            <a:r>
              <a:rPr lang="en-US" sz="1050" b="1" spc="100" kern="0" dirty="0">
                <a:solidFill>
                  <a:srgbClr val="8C96C7"/>
                </a:solidFill>
                <a:latin typeface="Calibri" pitchFamily="34" charset="0"/>
                <a:ea typeface="Calibri" pitchFamily="34" charset="-122"/>
                <a:cs typeface="Calibri" pitchFamily="34" charset="-120"/>
              </a:rPr>
              <a:t>COURSE</a:t>
            </a:r>
            <a:endParaRPr lang="en-US" sz="1050" dirty="0"/>
          </a:p>
        </p:txBody>
      </p:sp>
      <p:sp>
        <p:nvSpPr>
          <p:cNvPr id="22" name="Text 16"/>
          <p:cNvSpPr/>
          <p:nvPr/>
        </p:nvSpPr>
        <p:spPr>
          <a:xfrm>
            <a:off x="2788920" y="5285232"/>
            <a:ext cx="54864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PETV103</a:t>
            </a:r>
            <a:endParaRPr lang="en-US" sz="1250" dirty="0"/>
          </a:p>
        </p:txBody>
      </p:sp>
      <p:sp>
        <p:nvSpPr>
          <p:cNvPr id="23" name="Text 17"/>
          <p:cNvSpPr/>
          <p:nvPr/>
        </p:nvSpPr>
        <p:spPr>
          <a:xfrm>
            <a:off x="548640" y="5596128"/>
            <a:ext cx="2194560" cy="274320"/>
          </a:xfrm>
          <a:prstGeom prst="rect">
            <a:avLst/>
          </a:prstGeom>
          <a:noFill/>
          <a:ln/>
        </p:spPr>
        <p:txBody>
          <a:bodyPr wrap="square" lIns="0" tIns="0" rIns="0" bIns="0" rtlCol="0" anchor="ctr"/>
          <a:lstStyle/>
          <a:p>
            <a:pPr indent="0" marL="0">
              <a:buNone/>
            </a:pPr>
            <a:r>
              <a:rPr lang="en-US" sz="1050" b="1" spc="100" kern="0" dirty="0">
                <a:solidFill>
                  <a:srgbClr val="8C96C7"/>
                </a:solidFill>
                <a:latin typeface="Calibri" pitchFamily="34" charset="0"/>
                <a:ea typeface="Calibri" pitchFamily="34" charset="-122"/>
                <a:cs typeface="Calibri" pitchFamily="34" charset="-120"/>
              </a:rPr>
              <a:t>INSTITUTION</a:t>
            </a:r>
            <a:endParaRPr lang="en-US" sz="1050" dirty="0"/>
          </a:p>
        </p:txBody>
      </p:sp>
      <p:sp>
        <p:nvSpPr>
          <p:cNvPr id="24" name="Text 18"/>
          <p:cNvSpPr/>
          <p:nvPr/>
        </p:nvSpPr>
        <p:spPr>
          <a:xfrm>
            <a:off x="2788920" y="5596128"/>
            <a:ext cx="54864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Lovely Professional University</a:t>
            </a:r>
            <a:endParaRPr lang="en-US" sz="1250" dirty="0"/>
          </a:p>
        </p:txBody>
      </p:sp>
      <p:sp>
        <p:nvSpPr>
          <p:cNvPr id="25" name="Text 19"/>
          <p:cNvSpPr/>
          <p:nvPr/>
        </p:nvSpPr>
        <p:spPr>
          <a:xfrm>
            <a:off x="548640" y="5907024"/>
            <a:ext cx="2194560" cy="274320"/>
          </a:xfrm>
          <a:prstGeom prst="rect">
            <a:avLst/>
          </a:prstGeom>
          <a:noFill/>
          <a:ln/>
        </p:spPr>
        <p:txBody>
          <a:bodyPr wrap="square" lIns="0" tIns="0" rIns="0" bIns="0" rtlCol="0" anchor="ctr"/>
          <a:lstStyle/>
          <a:p>
            <a:pPr indent="0" marL="0">
              <a:buNone/>
            </a:pPr>
            <a:r>
              <a:rPr lang="en-US" sz="1050" b="1" spc="100" kern="0" dirty="0">
                <a:solidFill>
                  <a:srgbClr val="8C96C7"/>
                </a:solidFill>
                <a:latin typeface="Calibri" pitchFamily="34" charset="0"/>
                <a:ea typeface="Calibri" pitchFamily="34" charset="-122"/>
                <a:cs typeface="Calibri" pitchFamily="34" charset="-120"/>
              </a:rPr>
              <a:t>ACADEMIC YEAR</a:t>
            </a:r>
            <a:endParaRPr lang="en-US" sz="1050" dirty="0"/>
          </a:p>
        </p:txBody>
      </p:sp>
      <p:sp>
        <p:nvSpPr>
          <p:cNvPr id="26" name="Text 20"/>
          <p:cNvSpPr/>
          <p:nvPr/>
        </p:nvSpPr>
        <p:spPr>
          <a:xfrm>
            <a:off x="2788920" y="5907024"/>
            <a:ext cx="548640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COURSE OVERVIEW</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About the Course</a:t>
            </a:r>
            <a:endParaRPr lang="en-US" sz="3200" dirty="0"/>
          </a:p>
        </p:txBody>
      </p:sp>
      <p:sp>
        <p:nvSpPr>
          <p:cNvPr id="4" name="Text 2"/>
          <p:cNvSpPr/>
          <p:nvPr/>
        </p:nvSpPr>
        <p:spPr>
          <a:xfrm>
            <a:off x="548640" y="1417320"/>
            <a:ext cx="11064240" cy="685800"/>
          </a:xfrm>
          <a:prstGeom prst="rect">
            <a:avLst/>
          </a:prstGeom>
          <a:noFill/>
          <a:ln/>
        </p:spPr>
        <p:txBody>
          <a:bodyPr wrap="square" lIns="0" tIns="0" rIns="0" bIns="0" rtlCol="0" anchor="ctr"/>
          <a:lstStyle/>
          <a:p>
            <a:pPr indent="0" marL="0">
              <a:lnSpc>
                <a:spcPct val="125000"/>
              </a:lnSpc>
              <a:buNone/>
            </a:pPr>
            <a:r>
              <a:rPr lang="en-US" sz="1450" dirty="0">
                <a:solidFill>
                  <a:srgbClr val="17191F"/>
                </a:solidFill>
                <a:latin typeface="Calibri" pitchFamily="34" charset="0"/>
                <a:ea typeface="Calibri" pitchFamily="34" charset="-122"/>
                <a:cs typeface="Calibri" pitchFamily="34" charset="-120"/>
              </a:rPr>
              <a:t>PETV103 provided practical, hands-on exposure to data science, data analysis, visualization and business intelligence — moving beyond theory into applying tools on real datasets.</a:t>
            </a:r>
            <a:endParaRPr lang="en-US" sz="1450" dirty="0"/>
          </a:p>
        </p:txBody>
      </p:sp>
      <p:sp>
        <p:nvSpPr>
          <p:cNvPr id="5" name="Shape 3"/>
          <p:cNvSpPr/>
          <p:nvPr/>
        </p:nvSpPr>
        <p:spPr>
          <a:xfrm>
            <a:off x="548640" y="2788920"/>
            <a:ext cx="1676400" cy="1234440"/>
          </a:xfrm>
          <a:prstGeom prst="roundRect">
            <a:avLst>
              <a:gd name="adj" fmla="val 6667"/>
            </a:avLst>
          </a:prstGeom>
          <a:solidFill>
            <a:srgbClr val="F4F6FC"/>
          </a:solidFill>
          <a:ln w="12700">
            <a:solidFill>
              <a:srgbClr val="DDE3F2"/>
            </a:solidFill>
            <a:prstDash val="solid"/>
          </a:ln>
        </p:spPr>
      </p:sp>
      <p:sp>
        <p:nvSpPr>
          <p:cNvPr id="6" name="Text 4"/>
          <p:cNvSpPr/>
          <p:nvPr/>
        </p:nvSpPr>
        <p:spPr>
          <a:xfrm>
            <a:off x="594360" y="2788920"/>
            <a:ext cx="1584960" cy="12344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Data</a:t>
            </a:r>
            <a:endParaRPr lang="en-US" sz="1250" dirty="0"/>
          </a:p>
        </p:txBody>
      </p:sp>
      <p:pic>
        <p:nvPicPr>
          <p:cNvPr id="7" name="Image 0" descr="/home/claude/exim_deck/icons/arrow_right.png">    </p:cNvPr>
          <p:cNvPicPr>
            <a:picLocks noChangeAspect="1"/>
          </p:cNvPicPr>
          <p:nvPr/>
        </p:nvPicPr>
        <p:blipFill>
          <a:blip r:embed="rId1"/>
          <a:stretch>
            <a:fillRect/>
          </a:stretch>
        </p:blipFill>
        <p:spPr>
          <a:xfrm>
            <a:off x="2225040" y="3305556"/>
            <a:ext cx="201168" cy="201168"/>
          </a:xfrm>
          <a:prstGeom prst="rect">
            <a:avLst/>
          </a:prstGeom>
        </p:spPr>
      </p:pic>
      <p:sp>
        <p:nvSpPr>
          <p:cNvPr id="8" name="Shape 5"/>
          <p:cNvSpPr/>
          <p:nvPr/>
        </p:nvSpPr>
        <p:spPr>
          <a:xfrm>
            <a:off x="2426208" y="2788920"/>
            <a:ext cx="1676400" cy="1234440"/>
          </a:xfrm>
          <a:prstGeom prst="roundRect">
            <a:avLst>
              <a:gd name="adj" fmla="val 6667"/>
            </a:avLst>
          </a:prstGeom>
          <a:solidFill>
            <a:srgbClr val="F4F6FC"/>
          </a:solidFill>
          <a:ln w="12700">
            <a:solidFill>
              <a:srgbClr val="DDE3F2"/>
            </a:solidFill>
            <a:prstDash val="solid"/>
          </a:ln>
        </p:spPr>
      </p:sp>
      <p:sp>
        <p:nvSpPr>
          <p:cNvPr id="9" name="Text 6"/>
          <p:cNvSpPr/>
          <p:nvPr/>
        </p:nvSpPr>
        <p:spPr>
          <a:xfrm>
            <a:off x="2471928" y="2788920"/>
            <a:ext cx="1584960" cy="12344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Python / SQL</a:t>
            </a:r>
            <a:endParaRPr lang="en-US" sz="1250" dirty="0"/>
          </a:p>
        </p:txBody>
      </p:sp>
      <p:pic>
        <p:nvPicPr>
          <p:cNvPr id="10" name="Image 1" descr="/home/claude/exim_deck/icons/arrow_right.png">    </p:cNvPr>
          <p:cNvPicPr>
            <a:picLocks noChangeAspect="1"/>
          </p:cNvPicPr>
          <p:nvPr/>
        </p:nvPicPr>
        <p:blipFill>
          <a:blip r:embed="rId2"/>
          <a:stretch>
            <a:fillRect/>
          </a:stretch>
        </p:blipFill>
        <p:spPr>
          <a:xfrm>
            <a:off x="4102608" y="3305556"/>
            <a:ext cx="201168" cy="201168"/>
          </a:xfrm>
          <a:prstGeom prst="rect">
            <a:avLst/>
          </a:prstGeom>
        </p:spPr>
      </p:pic>
      <p:sp>
        <p:nvSpPr>
          <p:cNvPr id="11" name="Shape 7"/>
          <p:cNvSpPr/>
          <p:nvPr/>
        </p:nvSpPr>
        <p:spPr>
          <a:xfrm>
            <a:off x="4303776" y="2788920"/>
            <a:ext cx="1676400" cy="1234440"/>
          </a:xfrm>
          <a:prstGeom prst="roundRect">
            <a:avLst>
              <a:gd name="adj" fmla="val 6667"/>
            </a:avLst>
          </a:prstGeom>
          <a:solidFill>
            <a:srgbClr val="F4F6FC"/>
          </a:solidFill>
          <a:ln w="12700">
            <a:solidFill>
              <a:srgbClr val="DDE3F2"/>
            </a:solidFill>
            <a:prstDash val="solid"/>
          </a:ln>
        </p:spPr>
      </p:sp>
      <p:sp>
        <p:nvSpPr>
          <p:cNvPr id="12" name="Text 8"/>
          <p:cNvSpPr/>
          <p:nvPr/>
        </p:nvSpPr>
        <p:spPr>
          <a:xfrm>
            <a:off x="4349496" y="2788920"/>
            <a:ext cx="1584960" cy="12344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Data Cleaning</a:t>
            </a:r>
            <a:endParaRPr lang="en-US" sz="1250" dirty="0"/>
          </a:p>
        </p:txBody>
      </p:sp>
      <p:pic>
        <p:nvPicPr>
          <p:cNvPr id="13" name="Image 2" descr="/home/claude/exim_deck/icons/arrow_right.png">    </p:cNvPr>
          <p:cNvPicPr>
            <a:picLocks noChangeAspect="1"/>
          </p:cNvPicPr>
          <p:nvPr/>
        </p:nvPicPr>
        <p:blipFill>
          <a:blip r:embed="rId3"/>
          <a:stretch>
            <a:fillRect/>
          </a:stretch>
        </p:blipFill>
        <p:spPr>
          <a:xfrm>
            <a:off x="5980176" y="3305556"/>
            <a:ext cx="201168" cy="201168"/>
          </a:xfrm>
          <a:prstGeom prst="rect">
            <a:avLst/>
          </a:prstGeom>
        </p:spPr>
      </p:pic>
      <p:sp>
        <p:nvSpPr>
          <p:cNvPr id="14" name="Shape 9"/>
          <p:cNvSpPr/>
          <p:nvPr/>
        </p:nvSpPr>
        <p:spPr>
          <a:xfrm>
            <a:off x="6181344" y="2788920"/>
            <a:ext cx="1676400" cy="1234440"/>
          </a:xfrm>
          <a:prstGeom prst="roundRect">
            <a:avLst>
              <a:gd name="adj" fmla="val 6667"/>
            </a:avLst>
          </a:prstGeom>
          <a:solidFill>
            <a:srgbClr val="F4F6FC"/>
          </a:solidFill>
          <a:ln w="12700">
            <a:solidFill>
              <a:srgbClr val="DDE3F2"/>
            </a:solidFill>
            <a:prstDash val="solid"/>
          </a:ln>
        </p:spPr>
      </p:sp>
      <p:sp>
        <p:nvSpPr>
          <p:cNvPr id="15" name="Text 10"/>
          <p:cNvSpPr/>
          <p:nvPr/>
        </p:nvSpPr>
        <p:spPr>
          <a:xfrm>
            <a:off x="6227064" y="2788920"/>
            <a:ext cx="1584960" cy="12344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Analysis</a:t>
            </a:r>
            <a:endParaRPr lang="en-US" sz="1250" dirty="0"/>
          </a:p>
        </p:txBody>
      </p:sp>
      <p:pic>
        <p:nvPicPr>
          <p:cNvPr id="16" name="Image 3" descr="/home/claude/exim_deck/icons/arrow_right.png">    </p:cNvPr>
          <p:cNvPicPr>
            <a:picLocks noChangeAspect="1"/>
          </p:cNvPicPr>
          <p:nvPr/>
        </p:nvPicPr>
        <p:blipFill>
          <a:blip r:embed="rId4"/>
          <a:stretch>
            <a:fillRect/>
          </a:stretch>
        </p:blipFill>
        <p:spPr>
          <a:xfrm>
            <a:off x="7857744" y="3305556"/>
            <a:ext cx="201168" cy="201168"/>
          </a:xfrm>
          <a:prstGeom prst="rect">
            <a:avLst/>
          </a:prstGeom>
        </p:spPr>
      </p:pic>
      <p:sp>
        <p:nvSpPr>
          <p:cNvPr id="17" name="Shape 11"/>
          <p:cNvSpPr/>
          <p:nvPr/>
        </p:nvSpPr>
        <p:spPr>
          <a:xfrm>
            <a:off x="8058912" y="2788920"/>
            <a:ext cx="1676400" cy="1234440"/>
          </a:xfrm>
          <a:prstGeom prst="roundRect">
            <a:avLst>
              <a:gd name="adj" fmla="val 6667"/>
            </a:avLst>
          </a:prstGeom>
          <a:solidFill>
            <a:srgbClr val="F4F6FC"/>
          </a:solidFill>
          <a:ln w="12700">
            <a:solidFill>
              <a:srgbClr val="DDE3F2"/>
            </a:solidFill>
            <a:prstDash val="solid"/>
          </a:ln>
        </p:spPr>
      </p:sp>
      <p:sp>
        <p:nvSpPr>
          <p:cNvPr id="18" name="Text 12"/>
          <p:cNvSpPr/>
          <p:nvPr/>
        </p:nvSpPr>
        <p:spPr>
          <a:xfrm>
            <a:off x="8104632" y="2788920"/>
            <a:ext cx="1584960" cy="123444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Visualization</a:t>
            </a:r>
            <a:endParaRPr lang="en-US" sz="1250" dirty="0"/>
          </a:p>
        </p:txBody>
      </p:sp>
      <p:pic>
        <p:nvPicPr>
          <p:cNvPr id="19" name="Image 4" descr="/home/claude/exim_deck/icons/arrow_right.png">    </p:cNvPr>
          <p:cNvPicPr>
            <a:picLocks noChangeAspect="1"/>
          </p:cNvPicPr>
          <p:nvPr/>
        </p:nvPicPr>
        <p:blipFill>
          <a:blip r:embed="rId5"/>
          <a:stretch>
            <a:fillRect/>
          </a:stretch>
        </p:blipFill>
        <p:spPr>
          <a:xfrm>
            <a:off x="9735312" y="3305556"/>
            <a:ext cx="201168" cy="201168"/>
          </a:xfrm>
          <a:prstGeom prst="rect">
            <a:avLst/>
          </a:prstGeom>
        </p:spPr>
      </p:pic>
      <p:sp>
        <p:nvSpPr>
          <p:cNvPr id="20" name="Shape 13"/>
          <p:cNvSpPr/>
          <p:nvPr/>
        </p:nvSpPr>
        <p:spPr>
          <a:xfrm>
            <a:off x="9936480" y="2788920"/>
            <a:ext cx="1676400" cy="1234440"/>
          </a:xfrm>
          <a:prstGeom prst="roundRect">
            <a:avLst>
              <a:gd name="adj" fmla="val 6667"/>
            </a:avLst>
          </a:prstGeom>
          <a:solidFill>
            <a:srgbClr val="1E2761"/>
          </a:solidFill>
          <a:ln w="12700">
            <a:solidFill>
              <a:srgbClr val="DDE3F2"/>
            </a:solidFill>
            <a:prstDash val="solid"/>
          </a:ln>
        </p:spPr>
      </p:sp>
      <p:sp>
        <p:nvSpPr>
          <p:cNvPr id="21" name="Text 14"/>
          <p:cNvSpPr/>
          <p:nvPr/>
        </p:nvSpPr>
        <p:spPr>
          <a:xfrm>
            <a:off x="9982200" y="2788920"/>
            <a:ext cx="1584960" cy="12344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Business Insights</a:t>
            </a:r>
            <a:endParaRPr lang="en-US" sz="1250" dirty="0"/>
          </a:p>
        </p:txBody>
      </p:sp>
      <p:sp>
        <p:nvSpPr>
          <p:cNvPr id="22" name="Text 15"/>
          <p:cNvSpPr/>
          <p:nvPr/>
        </p:nvSpPr>
        <p:spPr>
          <a:xfrm>
            <a:off x="548640" y="4434840"/>
            <a:ext cx="3657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Course Focus</a:t>
            </a:r>
            <a:endParaRPr lang="en-US" sz="1300" dirty="0"/>
          </a:p>
        </p:txBody>
      </p:sp>
      <p:sp>
        <p:nvSpPr>
          <p:cNvPr id="23" name="Text 16"/>
          <p:cNvSpPr/>
          <p:nvPr/>
        </p:nvSpPr>
        <p:spPr>
          <a:xfrm>
            <a:off x="548640" y="4754880"/>
            <a:ext cx="10972800" cy="14630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17191F"/>
                </a:solidFill>
                <a:latin typeface="Calibri" pitchFamily="34" charset="0"/>
                <a:ea typeface="Calibri" pitchFamily="34" charset="-122"/>
                <a:cs typeface="Calibri" pitchFamily="34" charset="-120"/>
              </a:rPr>
              <a:t>Applying technical concepts to practical, real-world datasets</a:t>
            </a:r>
            <a:endParaRPr lang="en-US" sz="1350" dirty="0"/>
          </a:p>
          <a:p>
            <a:pPr marL="342900" indent="-342900">
              <a:spcAft>
                <a:spcPts val="800"/>
              </a:spcAft>
              <a:buSzPct val="100000"/>
              <a:buChar char="•"/>
            </a:pPr>
            <a:r>
              <a:rPr lang="en-US" sz="1350" dirty="0">
                <a:solidFill>
                  <a:srgbClr val="17191F"/>
                </a:solidFill>
                <a:latin typeface="Calibri" pitchFamily="34" charset="0"/>
                <a:ea typeface="Calibri" pitchFamily="34" charset="-122"/>
                <a:cs typeface="Calibri" pitchFamily="34" charset="-120"/>
              </a:rPr>
              <a:t>Building working fluency across programming, querying and BI tools</a:t>
            </a:r>
            <a:endParaRPr lang="en-US" sz="1350" dirty="0"/>
          </a:p>
          <a:p>
            <a:pPr marL="342900" indent="-342900">
              <a:spcAft>
                <a:spcPts val="800"/>
              </a:spcAft>
              <a:buSzPct val="100000"/>
              <a:buChar char="•"/>
            </a:pPr>
            <a:r>
              <a:rPr lang="en-US" sz="1350" dirty="0">
                <a:solidFill>
                  <a:srgbClr val="17191F"/>
                </a:solidFill>
                <a:latin typeface="Calibri" pitchFamily="34" charset="0"/>
                <a:ea typeface="Calibri" pitchFamily="34" charset="-122"/>
                <a:cs typeface="Calibri" pitchFamily="34" charset="-120"/>
              </a:rPr>
              <a:t>Translating raw data into visual, decision-ready insights</a:t>
            </a:r>
            <a:endParaRPr lang="en-US" sz="1350" dirty="0"/>
          </a:p>
        </p:txBody>
      </p:sp>
      <p:sp>
        <p:nvSpPr>
          <p:cNvPr id="24" name="Text 1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25"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CURRICULUM</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Course Content</a:t>
            </a:r>
            <a:endParaRPr lang="en-US" sz="3200" dirty="0"/>
          </a:p>
        </p:txBody>
      </p:sp>
      <p:sp>
        <p:nvSpPr>
          <p:cNvPr id="4" name="Shape 2"/>
          <p:cNvSpPr/>
          <p:nvPr/>
        </p:nvSpPr>
        <p:spPr>
          <a:xfrm>
            <a:off x="548640" y="1371600"/>
            <a:ext cx="5394960" cy="2217420"/>
          </a:xfrm>
          <a:prstGeom prst="roundRect">
            <a:avLst>
              <a:gd name="adj" fmla="val 3299"/>
            </a:avLst>
          </a:prstGeom>
          <a:solidFill>
            <a:srgbClr val="F4F6FC"/>
          </a:solidFill>
          <a:ln w="12700">
            <a:solidFill>
              <a:srgbClr val="DDE3F2"/>
            </a:solidFill>
            <a:prstDash val="solid"/>
          </a:ln>
        </p:spPr>
      </p:sp>
      <p:sp>
        <p:nvSpPr>
          <p:cNvPr id="5" name="Shape 3"/>
          <p:cNvSpPr/>
          <p:nvPr/>
        </p:nvSpPr>
        <p:spPr>
          <a:xfrm>
            <a:off x="804672" y="1627632"/>
            <a:ext cx="621792" cy="621792"/>
          </a:xfrm>
          <a:prstGeom prst="ellipse">
            <a:avLst/>
          </a:prstGeom>
          <a:solidFill>
            <a:srgbClr val="1E2761"/>
          </a:solidFill>
          <a:ln/>
        </p:spPr>
      </p:sp>
      <p:pic>
        <p:nvPicPr>
          <p:cNvPr id="6" name="Image 0" descr="/home/claude/exim_deck/icons/python.png">    </p:cNvPr>
          <p:cNvPicPr>
            <a:picLocks noChangeAspect="1"/>
          </p:cNvPicPr>
          <p:nvPr/>
        </p:nvPicPr>
        <p:blipFill>
          <a:blip r:embed="rId1"/>
          <a:stretch>
            <a:fillRect/>
          </a:stretch>
        </p:blipFill>
        <p:spPr>
          <a:xfrm>
            <a:off x="885505" y="1708465"/>
            <a:ext cx="460126" cy="460126"/>
          </a:xfrm>
          <a:prstGeom prst="rect">
            <a:avLst/>
          </a:prstGeom>
        </p:spPr>
      </p:pic>
      <p:sp>
        <p:nvSpPr>
          <p:cNvPr id="7" name="Text 4"/>
          <p:cNvSpPr/>
          <p:nvPr/>
        </p:nvSpPr>
        <p:spPr>
          <a:xfrm>
            <a:off x="1554480" y="1627632"/>
            <a:ext cx="4160520" cy="621792"/>
          </a:xfrm>
          <a:prstGeom prst="rect">
            <a:avLst/>
          </a:prstGeom>
          <a:noFill/>
          <a:ln/>
        </p:spPr>
        <p:txBody>
          <a:bodyPr wrap="square" lIns="0" tIns="0" rIns="0" bIns="0" rtlCol="0" anchor="ctr"/>
          <a:lstStyle/>
          <a:p>
            <a:pPr indent="0" marL="0">
              <a:buNone/>
            </a:pPr>
            <a:r>
              <a:rPr lang="en-US" sz="1900" b="1" dirty="0">
                <a:solidFill>
                  <a:srgbClr val="17191F"/>
                </a:solidFill>
                <a:latin typeface="Cambria" pitchFamily="34" charset="0"/>
                <a:ea typeface="Cambria" pitchFamily="34" charset="-122"/>
                <a:cs typeface="Cambria" pitchFamily="34" charset="-120"/>
              </a:rPr>
              <a:t>Python</a:t>
            </a:r>
            <a:endParaRPr lang="en-US" sz="1900" dirty="0"/>
          </a:p>
        </p:txBody>
      </p:sp>
      <p:sp>
        <p:nvSpPr>
          <p:cNvPr id="8" name="Text 5"/>
          <p:cNvSpPr/>
          <p:nvPr/>
        </p:nvSpPr>
        <p:spPr>
          <a:xfrm>
            <a:off x="822960" y="2423160"/>
            <a:ext cx="4846320" cy="9829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Programming fundamentals</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Data handling · Pandas · NumPy</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Data visualization</a:t>
            </a:r>
            <a:endParaRPr lang="en-US" sz="1300" dirty="0"/>
          </a:p>
        </p:txBody>
      </p:sp>
      <p:sp>
        <p:nvSpPr>
          <p:cNvPr id="9" name="Shape 6"/>
          <p:cNvSpPr/>
          <p:nvPr/>
        </p:nvSpPr>
        <p:spPr>
          <a:xfrm>
            <a:off x="6217920" y="1371600"/>
            <a:ext cx="5394960" cy="2217420"/>
          </a:xfrm>
          <a:prstGeom prst="roundRect">
            <a:avLst>
              <a:gd name="adj" fmla="val 3299"/>
            </a:avLst>
          </a:prstGeom>
          <a:solidFill>
            <a:srgbClr val="F4F6FC"/>
          </a:solidFill>
          <a:ln w="12700">
            <a:solidFill>
              <a:srgbClr val="DDE3F2"/>
            </a:solidFill>
            <a:prstDash val="solid"/>
          </a:ln>
        </p:spPr>
      </p:sp>
      <p:sp>
        <p:nvSpPr>
          <p:cNvPr id="10" name="Shape 7"/>
          <p:cNvSpPr/>
          <p:nvPr/>
        </p:nvSpPr>
        <p:spPr>
          <a:xfrm>
            <a:off x="6473952" y="1627632"/>
            <a:ext cx="621792" cy="621792"/>
          </a:xfrm>
          <a:prstGeom prst="ellipse">
            <a:avLst/>
          </a:prstGeom>
          <a:solidFill>
            <a:srgbClr val="1E2761"/>
          </a:solidFill>
          <a:ln/>
        </p:spPr>
      </p:sp>
      <p:pic>
        <p:nvPicPr>
          <p:cNvPr id="11" name="Image 1" descr="/home/claude/exim_deck/icons/sql.png">    </p:cNvPr>
          <p:cNvPicPr>
            <a:picLocks noChangeAspect="1"/>
          </p:cNvPicPr>
          <p:nvPr/>
        </p:nvPicPr>
        <p:blipFill>
          <a:blip r:embed="rId2"/>
          <a:stretch>
            <a:fillRect/>
          </a:stretch>
        </p:blipFill>
        <p:spPr>
          <a:xfrm>
            <a:off x="6554785" y="1708465"/>
            <a:ext cx="460126" cy="460126"/>
          </a:xfrm>
          <a:prstGeom prst="rect">
            <a:avLst/>
          </a:prstGeom>
        </p:spPr>
      </p:pic>
      <p:sp>
        <p:nvSpPr>
          <p:cNvPr id="12" name="Text 8"/>
          <p:cNvSpPr/>
          <p:nvPr/>
        </p:nvSpPr>
        <p:spPr>
          <a:xfrm>
            <a:off x="7223760" y="1627632"/>
            <a:ext cx="4160520" cy="621792"/>
          </a:xfrm>
          <a:prstGeom prst="rect">
            <a:avLst/>
          </a:prstGeom>
          <a:noFill/>
          <a:ln/>
        </p:spPr>
        <p:txBody>
          <a:bodyPr wrap="square" lIns="0" tIns="0" rIns="0" bIns="0" rtlCol="0" anchor="ctr"/>
          <a:lstStyle/>
          <a:p>
            <a:pPr indent="0" marL="0">
              <a:buNone/>
            </a:pPr>
            <a:r>
              <a:rPr lang="en-US" sz="1900" b="1" dirty="0">
                <a:solidFill>
                  <a:srgbClr val="17191F"/>
                </a:solidFill>
                <a:latin typeface="Cambria" pitchFamily="34" charset="0"/>
                <a:ea typeface="Cambria" pitchFamily="34" charset="-122"/>
                <a:cs typeface="Cambria" pitchFamily="34" charset="-120"/>
              </a:rPr>
              <a:t>SQL</a:t>
            </a:r>
            <a:endParaRPr lang="en-US" sz="1900" dirty="0"/>
          </a:p>
        </p:txBody>
      </p:sp>
      <p:sp>
        <p:nvSpPr>
          <p:cNvPr id="13" name="Text 9"/>
          <p:cNvSpPr/>
          <p:nvPr/>
        </p:nvSpPr>
        <p:spPr>
          <a:xfrm>
            <a:off x="6492240" y="2423160"/>
            <a:ext cx="4846320" cy="9829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SELECT queries · filtering</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Aggregation · GROUP BY</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JOINs across tables</a:t>
            </a:r>
            <a:endParaRPr lang="en-US" sz="1300" dirty="0"/>
          </a:p>
        </p:txBody>
      </p:sp>
      <p:sp>
        <p:nvSpPr>
          <p:cNvPr id="14" name="Shape 10"/>
          <p:cNvSpPr/>
          <p:nvPr/>
        </p:nvSpPr>
        <p:spPr>
          <a:xfrm>
            <a:off x="548640" y="3863340"/>
            <a:ext cx="5394960" cy="2217420"/>
          </a:xfrm>
          <a:prstGeom prst="roundRect">
            <a:avLst>
              <a:gd name="adj" fmla="val 3299"/>
            </a:avLst>
          </a:prstGeom>
          <a:solidFill>
            <a:srgbClr val="F4F6FC"/>
          </a:solidFill>
          <a:ln w="12700">
            <a:solidFill>
              <a:srgbClr val="DDE3F2"/>
            </a:solidFill>
            <a:prstDash val="solid"/>
          </a:ln>
        </p:spPr>
      </p:sp>
      <p:sp>
        <p:nvSpPr>
          <p:cNvPr id="15" name="Shape 11"/>
          <p:cNvSpPr/>
          <p:nvPr/>
        </p:nvSpPr>
        <p:spPr>
          <a:xfrm>
            <a:off x="804672" y="4119372"/>
            <a:ext cx="621792" cy="621792"/>
          </a:xfrm>
          <a:prstGeom prst="ellipse">
            <a:avLst/>
          </a:prstGeom>
          <a:solidFill>
            <a:srgbClr val="1E2761"/>
          </a:solidFill>
          <a:ln/>
        </p:spPr>
      </p:sp>
      <p:pic>
        <p:nvPicPr>
          <p:cNvPr id="16" name="Image 2" descr="/home/claude/exim_deck/icons/powerbi.png">    </p:cNvPr>
          <p:cNvPicPr>
            <a:picLocks noChangeAspect="1"/>
          </p:cNvPicPr>
          <p:nvPr/>
        </p:nvPicPr>
        <p:blipFill>
          <a:blip r:embed="rId3"/>
          <a:stretch>
            <a:fillRect/>
          </a:stretch>
        </p:blipFill>
        <p:spPr>
          <a:xfrm>
            <a:off x="885505" y="4200205"/>
            <a:ext cx="460126" cy="460126"/>
          </a:xfrm>
          <a:prstGeom prst="rect">
            <a:avLst/>
          </a:prstGeom>
        </p:spPr>
      </p:pic>
      <p:sp>
        <p:nvSpPr>
          <p:cNvPr id="17" name="Text 12"/>
          <p:cNvSpPr/>
          <p:nvPr/>
        </p:nvSpPr>
        <p:spPr>
          <a:xfrm>
            <a:off x="1554480" y="4119372"/>
            <a:ext cx="4160520" cy="621792"/>
          </a:xfrm>
          <a:prstGeom prst="rect">
            <a:avLst/>
          </a:prstGeom>
          <a:noFill/>
          <a:ln/>
        </p:spPr>
        <p:txBody>
          <a:bodyPr wrap="square" lIns="0" tIns="0" rIns="0" bIns="0" rtlCol="0" anchor="ctr"/>
          <a:lstStyle/>
          <a:p>
            <a:pPr indent="0" marL="0">
              <a:buNone/>
            </a:pPr>
            <a:r>
              <a:rPr lang="en-US" sz="1900" b="1" dirty="0">
                <a:solidFill>
                  <a:srgbClr val="17191F"/>
                </a:solidFill>
                <a:latin typeface="Cambria" pitchFamily="34" charset="0"/>
                <a:ea typeface="Cambria" pitchFamily="34" charset="-122"/>
                <a:cs typeface="Cambria" pitchFamily="34" charset="-120"/>
              </a:rPr>
              <a:t>Power BI</a:t>
            </a:r>
            <a:endParaRPr lang="en-US" sz="1900" dirty="0"/>
          </a:p>
        </p:txBody>
      </p:sp>
      <p:sp>
        <p:nvSpPr>
          <p:cNvPr id="18" name="Text 13"/>
          <p:cNvSpPr/>
          <p:nvPr/>
        </p:nvSpPr>
        <p:spPr>
          <a:xfrm>
            <a:off x="822960" y="4914900"/>
            <a:ext cx="4846320" cy="9829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Power Query · data modeling</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DAX · KPIs</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Interactive dashboards</a:t>
            </a:r>
            <a:endParaRPr lang="en-US" sz="1300" dirty="0"/>
          </a:p>
        </p:txBody>
      </p:sp>
      <p:sp>
        <p:nvSpPr>
          <p:cNvPr id="19" name="Shape 14"/>
          <p:cNvSpPr/>
          <p:nvPr/>
        </p:nvSpPr>
        <p:spPr>
          <a:xfrm>
            <a:off x="6217920" y="3863340"/>
            <a:ext cx="5394960" cy="2217420"/>
          </a:xfrm>
          <a:prstGeom prst="roundRect">
            <a:avLst>
              <a:gd name="adj" fmla="val 3299"/>
            </a:avLst>
          </a:prstGeom>
          <a:solidFill>
            <a:srgbClr val="F4F6FC"/>
          </a:solidFill>
          <a:ln w="12700">
            <a:solidFill>
              <a:srgbClr val="DDE3F2"/>
            </a:solidFill>
            <a:prstDash val="solid"/>
          </a:ln>
        </p:spPr>
      </p:sp>
      <p:sp>
        <p:nvSpPr>
          <p:cNvPr id="20" name="Shape 15"/>
          <p:cNvSpPr/>
          <p:nvPr/>
        </p:nvSpPr>
        <p:spPr>
          <a:xfrm>
            <a:off x="6473952" y="4119372"/>
            <a:ext cx="621792" cy="621792"/>
          </a:xfrm>
          <a:prstGeom prst="ellipse">
            <a:avLst/>
          </a:prstGeom>
          <a:solidFill>
            <a:srgbClr val="1E2761"/>
          </a:solidFill>
          <a:ln/>
        </p:spPr>
      </p:sp>
      <p:pic>
        <p:nvPicPr>
          <p:cNvPr id="21" name="Image 3" descr="/home/claude/exim_deck/icons/tableau.png">    </p:cNvPr>
          <p:cNvPicPr>
            <a:picLocks noChangeAspect="1"/>
          </p:cNvPicPr>
          <p:nvPr/>
        </p:nvPicPr>
        <p:blipFill>
          <a:blip r:embed="rId4"/>
          <a:stretch>
            <a:fillRect/>
          </a:stretch>
        </p:blipFill>
        <p:spPr>
          <a:xfrm>
            <a:off x="6554785" y="4200205"/>
            <a:ext cx="460126" cy="460126"/>
          </a:xfrm>
          <a:prstGeom prst="rect">
            <a:avLst/>
          </a:prstGeom>
        </p:spPr>
      </p:pic>
      <p:sp>
        <p:nvSpPr>
          <p:cNvPr id="22" name="Text 16"/>
          <p:cNvSpPr/>
          <p:nvPr/>
        </p:nvSpPr>
        <p:spPr>
          <a:xfrm>
            <a:off x="7223760" y="4119372"/>
            <a:ext cx="4160520" cy="621792"/>
          </a:xfrm>
          <a:prstGeom prst="rect">
            <a:avLst/>
          </a:prstGeom>
          <a:noFill/>
          <a:ln/>
        </p:spPr>
        <p:txBody>
          <a:bodyPr wrap="square" lIns="0" tIns="0" rIns="0" bIns="0" rtlCol="0" anchor="ctr"/>
          <a:lstStyle/>
          <a:p>
            <a:pPr indent="0" marL="0">
              <a:buNone/>
            </a:pPr>
            <a:r>
              <a:rPr lang="en-US" sz="1900" b="1" dirty="0">
                <a:solidFill>
                  <a:srgbClr val="17191F"/>
                </a:solidFill>
                <a:latin typeface="Cambria" pitchFamily="34" charset="0"/>
                <a:ea typeface="Cambria" pitchFamily="34" charset="-122"/>
                <a:cs typeface="Cambria" pitchFamily="34" charset="-120"/>
              </a:rPr>
              <a:t>Tableau</a:t>
            </a:r>
            <a:endParaRPr lang="en-US" sz="1900" dirty="0"/>
          </a:p>
        </p:txBody>
      </p:sp>
      <p:sp>
        <p:nvSpPr>
          <p:cNvPr id="23" name="Text 17"/>
          <p:cNvSpPr/>
          <p:nvPr/>
        </p:nvSpPr>
        <p:spPr>
          <a:xfrm>
            <a:off x="6492240" y="4914900"/>
            <a:ext cx="4846320" cy="98298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Worksheets &amp; dashboards</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Filters</a:t>
            </a:r>
            <a:endParaRPr lang="en-US" sz="1300" dirty="0"/>
          </a:p>
          <a:p>
            <a:pPr marL="342900" indent="-342900">
              <a:lnSpc>
                <a:spcPct val="115000"/>
              </a:lnSpc>
              <a:spcAft>
                <a:spcPts val="800"/>
              </a:spcAft>
              <a:buSzPct val="100000"/>
              <a:buChar char="•"/>
            </a:pPr>
            <a:r>
              <a:rPr lang="en-US" sz="1300" dirty="0">
                <a:solidFill>
                  <a:srgbClr val="5A6072"/>
                </a:solidFill>
                <a:latin typeface="Calibri" pitchFamily="34" charset="0"/>
                <a:ea typeface="Calibri" pitchFamily="34" charset="-122"/>
                <a:cs typeface="Calibri" pitchFamily="34" charset="-120"/>
              </a:rPr>
              <a:t>Interactive analysis</a:t>
            </a:r>
            <a:endParaRPr lang="en-US" sz="1300" dirty="0"/>
          </a:p>
        </p:txBody>
      </p:sp>
      <p:sp>
        <p:nvSpPr>
          <p:cNvPr id="24"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25"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B4D"/>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SKILL PROGRESSION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My Data Science Learning Journey</a:t>
            </a:r>
            <a:endParaRPr lang="en-US" sz="3200" dirty="0"/>
          </a:p>
        </p:txBody>
      </p:sp>
      <p:sp>
        <p:nvSpPr>
          <p:cNvPr id="4" name="Shape 2"/>
          <p:cNvSpPr/>
          <p:nvPr/>
        </p:nvSpPr>
        <p:spPr>
          <a:xfrm>
            <a:off x="1337310" y="1691640"/>
            <a:ext cx="914400" cy="914400"/>
          </a:xfrm>
          <a:prstGeom prst="ellipse">
            <a:avLst/>
          </a:prstGeom>
          <a:solidFill>
            <a:srgbClr val="1E2761"/>
          </a:solidFill>
          <a:ln/>
        </p:spPr>
      </p:sp>
      <p:pic>
        <p:nvPicPr>
          <p:cNvPr id="5" name="Image 0" descr="/home/claude/exim_deck/icons/python.png">    </p:cNvPr>
          <p:cNvPicPr>
            <a:picLocks noChangeAspect="1"/>
          </p:cNvPicPr>
          <p:nvPr/>
        </p:nvPicPr>
        <p:blipFill>
          <a:blip r:embed="rId1"/>
          <a:stretch>
            <a:fillRect/>
          </a:stretch>
        </p:blipFill>
        <p:spPr>
          <a:xfrm>
            <a:off x="1456182" y="1810512"/>
            <a:ext cx="676656" cy="676656"/>
          </a:xfrm>
          <a:prstGeom prst="rect">
            <a:avLst/>
          </a:prstGeom>
        </p:spPr>
      </p:pic>
      <p:sp>
        <p:nvSpPr>
          <p:cNvPr id="6" name="Text 3"/>
          <p:cNvSpPr/>
          <p:nvPr/>
        </p:nvSpPr>
        <p:spPr>
          <a:xfrm>
            <a:off x="457200" y="2752344"/>
            <a:ext cx="267462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Python</a:t>
            </a:r>
            <a:endParaRPr lang="en-US" sz="1400" dirty="0"/>
          </a:p>
        </p:txBody>
      </p:sp>
      <p:sp>
        <p:nvSpPr>
          <p:cNvPr id="7" name="Text 4"/>
          <p:cNvSpPr/>
          <p:nvPr/>
        </p:nvSpPr>
        <p:spPr>
          <a:xfrm>
            <a:off x="411480" y="3081528"/>
            <a:ext cx="2766060" cy="640080"/>
          </a:xfrm>
          <a:prstGeom prst="rect">
            <a:avLst/>
          </a:prstGeom>
          <a:noFill/>
          <a:ln/>
        </p:spPr>
        <p:txBody>
          <a:bodyPr wrap="square" lIns="0" tIns="0" rIns="0" bIns="0" rtlCol="0" anchor="ctr"/>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Programming &amp;</a:t>
            </a:r>
            <a:endParaRPr lang="en-US" sz="1150" dirty="0"/>
          </a:p>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data handling</a:t>
            </a:r>
            <a:endParaRPr lang="en-US" sz="1150" dirty="0"/>
          </a:p>
        </p:txBody>
      </p:sp>
      <p:pic>
        <p:nvPicPr>
          <p:cNvPr id="8" name="Image 1" descr="/home/claude/exim_deck/icons/arrow_right_light.png">    </p:cNvPr>
          <p:cNvPicPr>
            <a:picLocks noChangeAspect="1"/>
          </p:cNvPicPr>
          <p:nvPr/>
        </p:nvPicPr>
        <p:blipFill>
          <a:blip r:embed="rId2"/>
          <a:stretch>
            <a:fillRect/>
          </a:stretch>
        </p:blipFill>
        <p:spPr>
          <a:xfrm>
            <a:off x="3131820" y="2057400"/>
            <a:ext cx="182880" cy="182880"/>
          </a:xfrm>
          <a:prstGeom prst="rect">
            <a:avLst/>
          </a:prstGeom>
        </p:spPr>
      </p:pic>
      <p:sp>
        <p:nvSpPr>
          <p:cNvPr id="9" name="Shape 5"/>
          <p:cNvSpPr/>
          <p:nvPr/>
        </p:nvSpPr>
        <p:spPr>
          <a:xfrm>
            <a:off x="4194810" y="1691640"/>
            <a:ext cx="914400" cy="914400"/>
          </a:xfrm>
          <a:prstGeom prst="ellipse">
            <a:avLst/>
          </a:prstGeom>
          <a:solidFill>
            <a:srgbClr val="1E2761"/>
          </a:solidFill>
          <a:ln/>
        </p:spPr>
      </p:sp>
      <p:pic>
        <p:nvPicPr>
          <p:cNvPr id="10" name="Image 2" descr="/home/claude/exim_deck/icons/sql.png">    </p:cNvPr>
          <p:cNvPicPr>
            <a:picLocks noChangeAspect="1"/>
          </p:cNvPicPr>
          <p:nvPr/>
        </p:nvPicPr>
        <p:blipFill>
          <a:blip r:embed="rId3"/>
          <a:stretch>
            <a:fillRect/>
          </a:stretch>
        </p:blipFill>
        <p:spPr>
          <a:xfrm>
            <a:off x="4313682" y="1810512"/>
            <a:ext cx="676656" cy="676656"/>
          </a:xfrm>
          <a:prstGeom prst="rect">
            <a:avLst/>
          </a:prstGeom>
        </p:spPr>
      </p:pic>
      <p:sp>
        <p:nvSpPr>
          <p:cNvPr id="11" name="Text 6"/>
          <p:cNvSpPr/>
          <p:nvPr/>
        </p:nvSpPr>
        <p:spPr>
          <a:xfrm>
            <a:off x="3314700" y="2752344"/>
            <a:ext cx="267462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SQL</a:t>
            </a:r>
            <a:endParaRPr lang="en-US" sz="1400" dirty="0"/>
          </a:p>
        </p:txBody>
      </p:sp>
      <p:sp>
        <p:nvSpPr>
          <p:cNvPr id="12" name="Text 7"/>
          <p:cNvSpPr/>
          <p:nvPr/>
        </p:nvSpPr>
        <p:spPr>
          <a:xfrm>
            <a:off x="3268980" y="3081528"/>
            <a:ext cx="2766060" cy="640080"/>
          </a:xfrm>
          <a:prstGeom prst="rect">
            <a:avLst/>
          </a:prstGeom>
          <a:noFill/>
          <a:ln/>
        </p:spPr>
        <p:txBody>
          <a:bodyPr wrap="square" lIns="0" tIns="0" rIns="0" bIns="0" rtlCol="0" anchor="ctr"/>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Querying &amp; database</a:t>
            </a:r>
            <a:endParaRPr lang="en-US" sz="1150" dirty="0"/>
          </a:p>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analysis</a:t>
            </a:r>
            <a:endParaRPr lang="en-US" sz="1150" dirty="0"/>
          </a:p>
        </p:txBody>
      </p:sp>
      <p:pic>
        <p:nvPicPr>
          <p:cNvPr id="13" name="Image 3" descr="/home/claude/exim_deck/icons/arrow_right_light.png">    </p:cNvPr>
          <p:cNvPicPr>
            <a:picLocks noChangeAspect="1"/>
          </p:cNvPicPr>
          <p:nvPr/>
        </p:nvPicPr>
        <p:blipFill>
          <a:blip r:embed="rId4"/>
          <a:stretch>
            <a:fillRect/>
          </a:stretch>
        </p:blipFill>
        <p:spPr>
          <a:xfrm>
            <a:off x="5989320" y="2057400"/>
            <a:ext cx="182880" cy="182880"/>
          </a:xfrm>
          <a:prstGeom prst="rect">
            <a:avLst/>
          </a:prstGeom>
        </p:spPr>
      </p:pic>
      <p:sp>
        <p:nvSpPr>
          <p:cNvPr id="14" name="Shape 8"/>
          <p:cNvSpPr/>
          <p:nvPr/>
        </p:nvSpPr>
        <p:spPr>
          <a:xfrm>
            <a:off x="7052310" y="1691640"/>
            <a:ext cx="914400" cy="914400"/>
          </a:xfrm>
          <a:prstGeom prst="ellipse">
            <a:avLst/>
          </a:prstGeom>
          <a:solidFill>
            <a:srgbClr val="1E2761"/>
          </a:solidFill>
          <a:ln/>
        </p:spPr>
      </p:sp>
      <p:pic>
        <p:nvPicPr>
          <p:cNvPr id="15" name="Image 4" descr="/home/claude/exim_deck/icons/powerbi.png">    </p:cNvPr>
          <p:cNvPicPr>
            <a:picLocks noChangeAspect="1"/>
          </p:cNvPicPr>
          <p:nvPr/>
        </p:nvPicPr>
        <p:blipFill>
          <a:blip r:embed="rId5"/>
          <a:stretch>
            <a:fillRect/>
          </a:stretch>
        </p:blipFill>
        <p:spPr>
          <a:xfrm>
            <a:off x="7171182" y="1810512"/>
            <a:ext cx="676656" cy="676656"/>
          </a:xfrm>
          <a:prstGeom prst="rect">
            <a:avLst/>
          </a:prstGeom>
        </p:spPr>
      </p:pic>
      <p:sp>
        <p:nvSpPr>
          <p:cNvPr id="16" name="Text 9"/>
          <p:cNvSpPr/>
          <p:nvPr/>
        </p:nvSpPr>
        <p:spPr>
          <a:xfrm>
            <a:off x="6172200" y="2752344"/>
            <a:ext cx="267462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Power BI</a:t>
            </a:r>
            <a:endParaRPr lang="en-US" sz="1400" dirty="0"/>
          </a:p>
        </p:txBody>
      </p:sp>
      <p:sp>
        <p:nvSpPr>
          <p:cNvPr id="17" name="Text 10"/>
          <p:cNvSpPr/>
          <p:nvPr/>
        </p:nvSpPr>
        <p:spPr>
          <a:xfrm>
            <a:off x="6126480" y="3081528"/>
            <a:ext cx="2766060" cy="640080"/>
          </a:xfrm>
          <a:prstGeom prst="rect">
            <a:avLst/>
          </a:prstGeom>
          <a:noFill/>
          <a:ln/>
        </p:spPr>
        <p:txBody>
          <a:bodyPr wrap="square" lIns="0" tIns="0" rIns="0" bIns="0" rtlCol="0" anchor="ctr"/>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Business intelligence</a:t>
            </a:r>
            <a:endParaRPr lang="en-US" sz="1150" dirty="0"/>
          </a:p>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&amp; dashboards</a:t>
            </a:r>
            <a:endParaRPr lang="en-US" sz="1150" dirty="0"/>
          </a:p>
        </p:txBody>
      </p:sp>
      <p:pic>
        <p:nvPicPr>
          <p:cNvPr id="18" name="Image 5" descr="/home/claude/exim_deck/icons/arrow_right_light.png">    </p:cNvPr>
          <p:cNvPicPr>
            <a:picLocks noChangeAspect="1"/>
          </p:cNvPicPr>
          <p:nvPr/>
        </p:nvPicPr>
        <p:blipFill>
          <a:blip r:embed="rId6"/>
          <a:stretch>
            <a:fillRect/>
          </a:stretch>
        </p:blipFill>
        <p:spPr>
          <a:xfrm>
            <a:off x="8846820" y="2057400"/>
            <a:ext cx="182880" cy="182880"/>
          </a:xfrm>
          <a:prstGeom prst="rect">
            <a:avLst/>
          </a:prstGeom>
        </p:spPr>
      </p:pic>
      <p:sp>
        <p:nvSpPr>
          <p:cNvPr id="19" name="Shape 11"/>
          <p:cNvSpPr/>
          <p:nvPr/>
        </p:nvSpPr>
        <p:spPr>
          <a:xfrm>
            <a:off x="9909810" y="1691640"/>
            <a:ext cx="914400" cy="914400"/>
          </a:xfrm>
          <a:prstGeom prst="ellipse">
            <a:avLst/>
          </a:prstGeom>
          <a:solidFill>
            <a:srgbClr val="1E2761"/>
          </a:solidFill>
          <a:ln/>
        </p:spPr>
      </p:sp>
      <p:pic>
        <p:nvPicPr>
          <p:cNvPr id="20" name="Image 6" descr="/home/claude/exim_deck/icons/tableau.png">    </p:cNvPr>
          <p:cNvPicPr>
            <a:picLocks noChangeAspect="1"/>
          </p:cNvPicPr>
          <p:nvPr/>
        </p:nvPicPr>
        <p:blipFill>
          <a:blip r:embed="rId7"/>
          <a:stretch>
            <a:fillRect/>
          </a:stretch>
        </p:blipFill>
        <p:spPr>
          <a:xfrm>
            <a:off x="10028682" y="1810512"/>
            <a:ext cx="676656" cy="676656"/>
          </a:xfrm>
          <a:prstGeom prst="rect">
            <a:avLst/>
          </a:prstGeom>
        </p:spPr>
      </p:pic>
      <p:sp>
        <p:nvSpPr>
          <p:cNvPr id="21" name="Text 12"/>
          <p:cNvSpPr/>
          <p:nvPr/>
        </p:nvSpPr>
        <p:spPr>
          <a:xfrm>
            <a:off x="9029700" y="2752344"/>
            <a:ext cx="267462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Tableau</a:t>
            </a:r>
            <a:endParaRPr lang="en-US" sz="1400" dirty="0"/>
          </a:p>
        </p:txBody>
      </p:sp>
      <p:sp>
        <p:nvSpPr>
          <p:cNvPr id="22" name="Text 13"/>
          <p:cNvSpPr/>
          <p:nvPr/>
        </p:nvSpPr>
        <p:spPr>
          <a:xfrm>
            <a:off x="8983980" y="3081528"/>
            <a:ext cx="2766060" cy="640080"/>
          </a:xfrm>
          <a:prstGeom prst="rect">
            <a:avLst/>
          </a:prstGeom>
          <a:noFill/>
          <a:ln/>
        </p:spPr>
        <p:txBody>
          <a:bodyPr wrap="square" lIns="0" tIns="0" rIns="0" bIns="0" rtlCol="0" anchor="ctr"/>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Interactive</a:t>
            </a:r>
            <a:endParaRPr lang="en-US" sz="1150" dirty="0"/>
          </a:p>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visualization</a:t>
            </a:r>
            <a:endParaRPr lang="en-US" sz="1150" dirty="0"/>
          </a:p>
        </p:txBody>
      </p:sp>
      <p:sp>
        <p:nvSpPr>
          <p:cNvPr id="23" name="Shape 14"/>
          <p:cNvSpPr/>
          <p:nvPr/>
        </p:nvSpPr>
        <p:spPr>
          <a:xfrm>
            <a:off x="2194560" y="4892040"/>
            <a:ext cx="7772400" cy="960120"/>
          </a:xfrm>
          <a:prstGeom prst="roundRect">
            <a:avLst>
              <a:gd name="adj" fmla="val 9524"/>
            </a:avLst>
          </a:prstGeom>
          <a:solidFill>
            <a:srgbClr val="1E2761">
              <a:alpha val="90000"/>
            </a:srgbClr>
          </a:solidFill>
          <a:ln w="12700">
            <a:solidFill>
              <a:srgbClr val="3C4693"/>
            </a:solidFill>
            <a:prstDash val="solid"/>
          </a:ln>
        </p:spPr>
      </p:sp>
      <p:pic>
        <p:nvPicPr>
          <p:cNvPr id="24" name="Image 7" descr="/home/claude/exim_deck/icons/target.png">    </p:cNvPr>
          <p:cNvPicPr>
            <a:picLocks noChangeAspect="1"/>
          </p:cNvPicPr>
          <p:nvPr/>
        </p:nvPicPr>
        <p:blipFill>
          <a:blip r:embed="rId8"/>
          <a:stretch>
            <a:fillRect/>
          </a:stretch>
        </p:blipFill>
        <p:spPr>
          <a:xfrm>
            <a:off x="2423160" y="5120640"/>
            <a:ext cx="502920" cy="502920"/>
          </a:xfrm>
          <a:prstGeom prst="rect">
            <a:avLst/>
          </a:prstGeom>
        </p:spPr>
      </p:pic>
      <p:sp>
        <p:nvSpPr>
          <p:cNvPr id="25" name="Text 15"/>
          <p:cNvSpPr/>
          <p:nvPr/>
        </p:nvSpPr>
        <p:spPr>
          <a:xfrm>
            <a:off x="3063240" y="4892040"/>
            <a:ext cx="6766560" cy="960120"/>
          </a:xfrm>
          <a:prstGeom prst="rect">
            <a:avLst/>
          </a:prstGeom>
          <a:noFill/>
          <a:ln/>
        </p:spPr>
        <p:txBody>
          <a:bodyPr wrap="square" lIns="0" tIns="0" rIns="0" bIns="0" rtlCol="0" anchor="ctr"/>
          <a:lstStyle/>
          <a:p>
            <a:pPr indent="0" marL="0">
              <a:buNone/>
            </a:pPr>
            <a:r>
              <a:rPr lang="en-US" sz="1700" b="1" i="1" dirty="0">
                <a:solidFill>
                  <a:srgbClr val="FFFFFF"/>
                </a:solidFill>
                <a:latin typeface="Cambria" pitchFamily="34" charset="0"/>
                <a:ea typeface="Cambria" pitchFamily="34" charset="-122"/>
                <a:cs typeface="Cambria" pitchFamily="34" charset="-120"/>
              </a:rPr>
              <a:t>Goal: Turning Raw Data into Actionable Insights</a:t>
            </a:r>
            <a:endParaRPr lang="en-US" sz="1700" dirty="0"/>
          </a:p>
        </p:txBody>
      </p:sp>
      <p:sp>
        <p:nvSpPr>
          <p:cNvPr id="26"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AAB4D6"/>
                </a:solidFill>
                <a:latin typeface="Calibri" pitchFamily="34" charset="0"/>
                <a:ea typeface="Calibri" pitchFamily="34" charset="-122"/>
                <a:cs typeface="Calibri" pitchFamily="34" charset="-120"/>
              </a:rPr>
              <a:t>PETV103 · Summer Internship SDC</a:t>
            </a:r>
            <a:endParaRPr lang="en-US" sz="900" dirty="0"/>
          </a:p>
        </p:txBody>
      </p:sp>
      <p:sp>
        <p:nvSpPr>
          <p:cNvPr id="27"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AB4D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VERIFICATION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Certification</a:t>
            </a:r>
            <a:endParaRPr lang="en-US" sz="3200" dirty="0"/>
          </a:p>
        </p:txBody>
      </p:sp>
      <p:sp>
        <p:nvSpPr>
          <p:cNvPr id="4" name="Shape 2"/>
          <p:cNvSpPr/>
          <p:nvPr/>
        </p:nvSpPr>
        <p:spPr>
          <a:xfrm>
            <a:off x="1828800" y="1508760"/>
            <a:ext cx="8503920" cy="4160520"/>
          </a:xfrm>
          <a:prstGeom prst="roundRect">
            <a:avLst>
              <a:gd name="adj" fmla="val 1319"/>
            </a:avLst>
          </a:prstGeom>
          <a:solidFill>
            <a:srgbClr val="F4F6FC"/>
          </a:solidFill>
          <a:ln w="19050">
            <a:solidFill>
              <a:srgbClr val="1E2761"/>
            </a:solidFill>
            <a:prstDash val="dash"/>
          </a:ln>
        </p:spPr>
      </p:sp>
      <p:sp>
        <p:nvSpPr>
          <p:cNvPr id="5" name="Shape 3"/>
          <p:cNvSpPr/>
          <p:nvPr/>
        </p:nvSpPr>
        <p:spPr>
          <a:xfrm>
            <a:off x="5623560" y="2720340"/>
            <a:ext cx="914400" cy="914400"/>
          </a:xfrm>
          <a:prstGeom prst="ellipse">
            <a:avLst/>
          </a:prstGeom>
          <a:solidFill>
            <a:srgbClr val="1E2761"/>
          </a:solidFill>
          <a:ln/>
        </p:spPr>
      </p:sp>
      <p:pic>
        <p:nvPicPr>
          <p:cNvPr id="6" name="Image 0" descr="/home/claude/exim_deck/icons/certificate.png">    </p:cNvPr>
          <p:cNvPicPr>
            <a:picLocks noChangeAspect="1"/>
          </p:cNvPicPr>
          <p:nvPr/>
        </p:nvPicPr>
        <p:blipFill>
          <a:blip r:embed="rId1"/>
          <a:stretch>
            <a:fillRect/>
          </a:stretch>
        </p:blipFill>
        <p:spPr>
          <a:xfrm>
            <a:off x="5742432" y="2839212"/>
            <a:ext cx="676656" cy="676656"/>
          </a:xfrm>
          <a:prstGeom prst="rect">
            <a:avLst/>
          </a:prstGeom>
        </p:spPr>
      </p:pic>
      <p:sp>
        <p:nvSpPr>
          <p:cNvPr id="7" name="Text 4"/>
          <p:cNvSpPr/>
          <p:nvPr/>
        </p:nvSpPr>
        <p:spPr>
          <a:xfrm>
            <a:off x="2194560" y="3726180"/>
            <a:ext cx="7772400" cy="45720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 INSERT ACTUAL CERTIFICATE IMAGE HERE ]</a:t>
            </a:r>
            <a:endParaRPr lang="en-US" sz="1500" dirty="0"/>
          </a:p>
        </p:txBody>
      </p:sp>
      <p:sp>
        <p:nvSpPr>
          <p:cNvPr id="8" name="Text 5"/>
          <p:cNvSpPr/>
          <p:nvPr/>
        </p:nvSpPr>
        <p:spPr>
          <a:xfrm>
            <a:off x="2377440" y="4137660"/>
            <a:ext cx="7406640" cy="365760"/>
          </a:xfrm>
          <a:prstGeom prst="rect">
            <a:avLst/>
          </a:prstGeom>
          <a:noFill/>
          <a:ln/>
        </p:spPr>
        <p:txBody>
          <a:bodyPr wrap="square" lIns="0" tIns="0" rIns="0" bIns="0" rtlCol="0" anchor="ctr"/>
          <a:lstStyle/>
          <a:p>
            <a:pPr algn="ctr" indent="0" marL="0">
              <a:buNone/>
            </a:pPr>
            <a:r>
              <a:rPr lang="en-US" sz="1100" i="1" dirty="0">
                <a:solidFill>
                  <a:srgbClr val="5A6072"/>
                </a:solidFill>
                <a:latin typeface="Calibri" pitchFamily="34" charset="0"/>
                <a:ea typeface="Calibri" pitchFamily="34" charset="-122"/>
                <a:cs typeface="Calibri" pitchFamily="34" charset="-120"/>
              </a:rPr>
              <a:t>Replace this placeholder with a scanned or exported copy of the official certificate</a:t>
            </a:r>
            <a:endParaRPr lang="en-US" sz="1100" dirty="0"/>
          </a:p>
        </p:txBody>
      </p:sp>
      <p:sp>
        <p:nvSpPr>
          <p:cNvPr id="9" name="Text 6"/>
          <p:cNvSpPr/>
          <p:nvPr/>
        </p:nvSpPr>
        <p:spPr>
          <a:xfrm>
            <a:off x="548640" y="5870448"/>
            <a:ext cx="11064240" cy="365760"/>
          </a:xfrm>
          <a:prstGeom prst="rect">
            <a:avLst/>
          </a:prstGeom>
          <a:noFill/>
          <a:ln/>
        </p:spPr>
        <p:txBody>
          <a:bodyPr wrap="square" lIns="0" tIns="0" rIns="0" bIns="0" rtlCol="0" anchor="ctr"/>
          <a:lstStyle/>
          <a:p>
            <a:pPr algn="ctr" indent="0" marL="0">
              <a:buNone/>
            </a:pPr>
            <a:r>
              <a:rPr lang="en-US" sz="1300" i="1" dirty="0">
                <a:solidFill>
                  <a:srgbClr val="5A6072"/>
                </a:solidFill>
                <a:latin typeface="Calibri" pitchFamily="34" charset="0"/>
                <a:ea typeface="Calibri" pitchFamily="34" charset="-122"/>
                <a:cs typeface="Calibri" pitchFamily="34" charset="-120"/>
              </a:rPr>
              <a:t>Successfully completed the Summer Internship SDC course</a:t>
            </a:r>
            <a:endParaRPr lang="en-US" sz="1300" dirty="0"/>
          </a:p>
        </p:txBody>
      </p:sp>
      <p:sp>
        <p:nvSpPr>
          <p:cNvPr id="10" name="Text 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11" name="Text 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CAPSTONE PROJECT</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Summer Internship Project</a:t>
            </a:r>
            <a:endParaRPr lang="en-US" sz="3200" dirty="0"/>
          </a:p>
        </p:txBody>
      </p:sp>
      <p:sp>
        <p:nvSpPr>
          <p:cNvPr id="4" name="Text 2"/>
          <p:cNvSpPr/>
          <p:nvPr/>
        </p:nvSpPr>
        <p:spPr>
          <a:xfrm>
            <a:off x="548640" y="1170432"/>
            <a:ext cx="10972800" cy="384048"/>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EXIM Bank Financing Performance Analysis</a:t>
            </a:r>
            <a:endParaRPr lang="en-US" sz="1500" dirty="0"/>
          </a:p>
        </p:txBody>
      </p:sp>
      <p:sp>
        <p:nvSpPr>
          <p:cNvPr id="5" name="Text 3"/>
          <p:cNvSpPr/>
          <p:nvPr/>
        </p:nvSpPr>
        <p:spPr>
          <a:xfrm>
            <a:off x="548640" y="1627632"/>
            <a:ext cx="11064240" cy="594360"/>
          </a:xfrm>
          <a:prstGeom prst="rect">
            <a:avLst/>
          </a:prstGeom>
          <a:noFill/>
          <a:ln/>
        </p:spPr>
        <p:txBody>
          <a:bodyPr wrap="square" lIns="0" tIns="0" rIns="0" bIns="0" rtlCol="0" anchor="ctr"/>
          <a:lstStyle/>
          <a:p>
            <a:pPr indent="0" marL="0">
              <a:lnSpc>
                <a:spcPct val="120000"/>
              </a:lnSpc>
              <a:buNone/>
            </a:pPr>
            <a:r>
              <a:rPr lang="en-US" sz="1350" dirty="0">
                <a:solidFill>
                  <a:srgbClr val="17191F"/>
                </a:solidFill>
                <a:latin typeface="Calibri" pitchFamily="34" charset="0"/>
                <a:ea typeface="Calibri" pitchFamily="34" charset="-122"/>
                <a:cs typeface="Calibri" pitchFamily="34" charset="-120"/>
              </a:rPr>
              <a:t>I worked on an EXIM Bank financing data analysis project using Power BI, transforming raw transactional records into an interactive, decision-ready dashboard.</a:t>
            </a:r>
            <a:endParaRPr lang="en-US" sz="1350" dirty="0"/>
          </a:p>
        </p:txBody>
      </p:sp>
      <p:sp>
        <p:nvSpPr>
          <p:cNvPr id="6" name="Shape 4"/>
          <p:cNvSpPr/>
          <p:nvPr/>
        </p:nvSpPr>
        <p:spPr>
          <a:xfrm>
            <a:off x="548640" y="2377440"/>
            <a:ext cx="3383280" cy="3566160"/>
          </a:xfrm>
          <a:prstGeom prst="roundRect">
            <a:avLst>
              <a:gd name="adj" fmla="val 2162"/>
            </a:avLst>
          </a:prstGeom>
          <a:solidFill>
            <a:srgbClr val="1E2761"/>
          </a:solidFill>
          <a:ln/>
        </p:spPr>
      </p:sp>
      <p:sp>
        <p:nvSpPr>
          <p:cNvPr id="7" name="Shape 5"/>
          <p:cNvSpPr/>
          <p:nvPr/>
        </p:nvSpPr>
        <p:spPr>
          <a:xfrm>
            <a:off x="804672" y="2633472"/>
            <a:ext cx="502920" cy="502920"/>
          </a:xfrm>
          <a:prstGeom prst="ellipse">
            <a:avLst/>
          </a:prstGeom>
          <a:solidFill>
            <a:srgbClr val="2A337A"/>
          </a:solidFill>
          <a:ln/>
        </p:spPr>
      </p:sp>
      <p:pic>
        <p:nvPicPr>
          <p:cNvPr id="8" name="Image 0" descr="/home/claude/exim_deck/icons/file_spreadsheet.png">    </p:cNvPr>
          <p:cNvPicPr>
            <a:picLocks noChangeAspect="1"/>
          </p:cNvPicPr>
          <p:nvPr/>
        </p:nvPicPr>
        <p:blipFill>
          <a:blip r:embed="rId1"/>
          <a:stretch>
            <a:fillRect/>
          </a:stretch>
        </p:blipFill>
        <p:spPr>
          <a:xfrm>
            <a:off x="870052" y="2698852"/>
            <a:ext cx="372161" cy="372161"/>
          </a:xfrm>
          <a:prstGeom prst="rect">
            <a:avLst/>
          </a:prstGeom>
        </p:spPr>
      </p:pic>
      <p:sp>
        <p:nvSpPr>
          <p:cNvPr id="9" name="Text 6"/>
          <p:cNvSpPr/>
          <p:nvPr/>
        </p:nvSpPr>
        <p:spPr>
          <a:xfrm>
            <a:off x="804672" y="3246120"/>
            <a:ext cx="2871216"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Dataset Snapshot</a:t>
            </a:r>
            <a:endParaRPr lang="en-US" sz="1300" dirty="0"/>
          </a:p>
        </p:txBody>
      </p:sp>
      <p:sp>
        <p:nvSpPr>
          <p:cNvPr id="10" name="Text 7"/>
          <p:cNvSpPr/>
          <p:nvPr/>
        </p:nvSpPr>
        <p:spPr>
          <a:xfrm>
            <a:off x="804672" y="3611880"/>
            <a:ext cx="2871216"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52,000+</a:t>
            </a:r>
            <a:endParaRPr lang="en-US" sz="3000" dirty="0"/>
          </a:p>
        </p:txBody>
      </p:sp>
      <p:sp>
        <p:nvSpPr>
          <p:cNvPr id="11" name="Text 8"/>
          <p:cNvSpPr/>
          <p:nvPr/>
        </p:nvSpPr>
        <p:spPr>
          <a:xfrm>
            <a:off x="804672" y="4114800"/>
            <a:ext cx="2871216" cy="27432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Records</a:t>
            </a:r>
            <a:endParaRPr lang="en-US" sz="1150" dirty="0"/>
          </a:p>
        </p:txBody>
      </p:sp>
      <p:sp>
        <p:nvSpPr>
          <p:cNvPr id="12" name="Text 9"/>
          <p:cNvSpPr/>
          <p:nvPr/>
        </p:nvSpPr>
        <p:spPr>
          <a:xfrm>
            <a:off x="804672" y="4526280"/>
            <a:ext cx="2871216" cy="4572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34</a:t>
            </a:r>
            <a:endParaRPr lang="en-US" sz="3000" dirty="0"/>
          </a:p>
        </p:txBody>
      </p:sp>
      <p:sp>
        <p:nvSpPr>
          <p:cNvPr id="13" name="Text 10"/>
          <p:cNvSpPr/>
          <p:nvPr/>
        </p:nvSpPr>
        <p:spPr>
          <a:xfrm>
            <a:off x="804672" y="5010912"/>
            <a:ext cx="2871216" cy="27432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Columns</a:t>
            </a:r>
            <a:endParaRPr lang="en-US" sz="1150" dirty="0"/>
          </a:p>
        </p:txBody>
      </p:sp>
      <p:sp>
        <p:nvSpPr>
          <p:cNvPr id="14" name="Text 11"/>
          <p:cNvSpPr/>
          <p:nvPr/>
        </p:nvSpPr>
        <p:spPr>
          <a:xfrm>
            <a:off x="804672" y="5413248"/>
            <a:ext cx="2871216" cy="365760"/>
          </a:xfrm>
          <a:prstGeom prst="rect">
            <a:avLst/>
          </a:prstGeom>
          <a:noFill/>
          <a:ln/>
        </p:spPr>
        <p:txBody>
          <a:bodyPr wrap="square" lIns="0" tIns="0" rIns="0" bIns="0" rtlCol="0" anchor="ctr"/>
          <a:lstStyle/>
          <a:p>
            <a:pPr indent="0" marL="0">
              <a:buNone/>
            </a:pPr>
            <a:r>
              <a:rPr lang="en-US" sz="1150" i="1" dirty="0">
                <a:solidFill>
                  <a:srgbClr val="AAB4D6"/>
                </a:solidFill>
                <a:latin typeface="Calibri" pitchFamily="34" charset="0"/>
                <a:ea typeface="Calibri" pitchFamily="34" charset="-122"/>
                <a:cs typeface="Calibri" pitchFamily="34" charset="-120"/>
              </a:rPr>
              <a:t>Excel Source File</a:t>
            </a:r>
            <a:endParaRPr lang="en-US" sz="1150" dirty="0"/>
          </a:p>
        </p:txBody>
      </p:sp>
      <p:sp>
        <p:nvSpPr>
          <p:cNvPr id="15" name="Text 12"/>
          <p:cNvSpPr/>
          <p:nvPr/>
        </p:nvSpPr>
        <p:spPr>
          <a:xfrm>
            <a:off x="4251960" y="2377440"/>
            <a:ext cx="736092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Key Data Fields</a:t>
            </a:r>
            <a:endParaRPr lang="en-US" sz="1300" dirty="0"/>
          </a:p>
        </p:txBody>
      </p:sp>
      <p:sp>
        <p:nvSpPr>
          <p:cNvPr id="16" name="Shape 13"/>
          <p:cNvSpPr/>
          <p:nvPr/>
        </p:nvSpPr>
        <p:spPr>
          <a:xfrm>
            <a:off x="4251960" y="2761488"/>
            <a:ext cx="3543300" cy="274320"/>
          </a:xfrm>
          <a:prstGeom prst="roundRect">
            <a:avLst>
              <a:gd name="adj" fmla="val 16667"/>
            </a:avLst>
          </a:prstGeom>
          <a:solidFill>
            <a:srgbClr val="F4F6FC"/>
          </a:solidFill>
          <a:ln/>
        </p:spPr>
      </p:sp>
      <p:sp>
        <p:nvSpPr>
          <p:cNvPr id="17" name="Text 14"/>
          <p:cNvSpPr/>
          <p:nvPr/>
        </p:nvSpPr>
        <p:spPr>
          <a:xfrm>
            <a:off x="4361688" y="2761488"/>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Fiscal Year</a:t>
            </a:r>
            <a:endParaRPr lang="en-US" sz="1080" dirty="0"/>
          </a:p>
        </p:txBody>
      </p:sp>
      <p:sp>
        <p:nvSpPr>
          <p:cNvPr id="18" name="Shape 15"/>
          <p:cNvSpPr/>
          <p:nvPr/>
        </p:nvSpPr>
        <p:spPr>
          <a:xfrm>
            <a:off x="8069580" y="2761488"/>
            <a:ext cx="3543300" cy="274320"/>
          </a:xfrm>
          <a:prstGeom prst="roundRect">
            <a:avLst>
              <a:gd name="adj" fmla="val 16667"/>
            </a:avLst>
          </a:prstGeom>
          <a:solidFill>
            <a:srgbClr val="F4F6FC"/>
          </a:solidFill>
          <a:ln/>
        </p:spPr>
      </p:sp>
      <p:sp>
        <p:nvSpPr>
          <p:cNvPr id="19" name="Text 16"/>
          <p:cNvSpPr/>
          <p:nvPr/>
        </p:nvSpPr>
        <p:spPr>
          <a:xfrm>
            <a:off x="8179308" y="2761488"/>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Country</a:t>
            </a:r>
            <a:endParaRPr lang="en-US" sz="1080" dirty="0"/>
          </a:p>
        </p:txBody>
      </p:sp>
      <p:sp>
        <p:nvSpPr>
          <p:cNvPr id="20" name="Shape 17"/>
          <p:cNvSpPr/>
          <p:nvPr/>
        </p:nvSpPr>
        <p:spPr>
          <a:xfrm>
            <a:off x="4251960" y="3090672"/>
            <a:ext cx="3543300" cy="274320"/>
          </a:xfrm>
          <a:prstGeom prst="roundRect">
            <a:avLst>
              <a:gd name="adj" fmla="val 16667"/>
            </a:avLst>
          </a:prstGeom>
          <a:solidFill>
            <a:srgbClr val="F4F6FC"/>
          </a:solidFill>
          <a:ln/>
        </p:spPr>
      </p:sp>
      <p:sp>
        <p:nvSpPr>
          <p:cNvPr id="21" name="Text 18"/>
          <p:cNvSpPr/>
          <p:nvPr/>
        </p:nvSpPr>
        <p:spPr>
          <a:xfrm>
            <a:off x="4361688" y="3090672"/>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Program</a:t>
            </a:r>
            <a:endParaRPr lang="en-US" sz="1080" dirty="0"/>
          </a:p>
        </p:txBody>
      </p:sp>
      <p:sp>
        <p:nvSpPr>
          <p:cNvPr id="22" name="Shape 19"/>
          <p:cNvSpPr/>
          <p:nvPr/>
        </p:nvSpPr>
        <p:spPr>
          <a:xfrm>
            <a:off x="8069580" y="3090672"/>
            <a:ext cx="3543300" cy="274320"/>
          </a:xfrm>
          <a:prstGeom prst="roundRect">
            <a:avLst>
              <a:gd name="adj" fmla="val 16667"/>
            </a:avLst>
          </a:prstGeom>
          <a:solidFill>
            <a:srgbClr val="F4F6FC"/>
          </a:solidFill>
          <a:ln/>
        </p:spPr>
      </p:sp>
      <p:sp>
        <p:nvSpPr>
          <p:cNvPr id="23" name="Text 20"/>
          <p:cNvSpPr/>
          <p:nvPr/>
        </p:nvSpPr>
        <p:spPr>
          <a:xfrm>
            <a:off x="8179308" y="3090672"/>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Decision</a:t>
            </a:r>
            <a:endParaRPr lang="en-US" sz="1080" dirty="0"/>
          </a:p>
        </p:txBody>
      </p:sp>
      <p:sp>
        <p:nvSpPr>
          <p:cNvPr id="24" name="Shape 21"/>
          <p:cNvSpPr/>
          <p:nvPr/>
        </p:nvSpPr>
        <p:spPr>
          <a:xfrm>
            <a:off x="4251960" y="3419856"/>
            <a:ext cx="3543300" cy="274320"/>
          </a:xfrm>
          <a:prstGeom prst="roundRect">
            <a:avLst>
              <a:gd name="adj" fmla="val 16667"/>
            </a:avLst>
          </a:prstGeom>
          <a:solidFill>
            <a:srgbClr val="F4F6FC"/>
          </a:solidFill>
          <a:ln/>
        </p:spPr>
      </p:sp>
      <p:sp>
        <p:nvSpPr>
          <p:cNvPr id="25" name="Text 22"/>
          <p:cNvSpPr/>
          <p:nvPr/>
        </p:nvSpPr>
        <p:spPr>
          <a:xfrm>
            <a:off x="4361688" y="3419856"/>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Authorized Amount</a:t>
            </a:r>
            <a:endParaRPr lang="en-US" sz="1080" dirty="0"/>
          </a:p>
        </p:txBody>
      </p:sp>
      <p:sp>
        <p:nvSpPr>
          <p:cNvPr id="26" name="Shape 23"/>
          <p:cNvSpPr/>
          <p:nvPr/>
        </p:nvSpPr>
        <p:spPr>
          <a:xfrm>
            <a:off x="8069580" y="3419856"/>
            <a:ext cx="3543300" cy="274320"/>
          </a:xfrm>
          <a:prstGeom prst="roundRect">
            <a:avLst>
              <a:gd name="adj" fmla="val 16667"/>
            </a:avLst>
          </a:prstGeom>
          <a:solidFill>
            <a:srgbClr val="F4F6FC"/>
          </a:solidFill>
          <a:ln/>
        </p:spPr>
      </p:sp>
      <p:sp>
        <p:nvSpPr>
          <p:cNvPr id="27" name="Text 24"/>
          <p:cNvSpPr/>
          <p:nvPr/>
        </p:nvSpPr>
        <p:spPr>
          <a:xfrm>
            <a:off x="8179308" y="3419856"/>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Disbursed Amount</a:t>
            </a:r>
            <a:endParaRPr lang="en-US" sz="1080" dirty="0"/>
          </a:p>
        </p:txBody>
      </p:sp>
      <p:sp>
        <p:nvSpPr>
          <p:cNvPr id="28" name="Shape 25"/>
          <p:cNvSpPr/>
          <p:nvPr/>
        </p:nvSpPr>
        <p:spPr>
          <a:xfrm>
            <a:off x="4251960" y="3749040"/>
            <a:ext cx="3543300" cy="274320"/>
          </a:xfrm>
          <a:prstGeom prst="roundRect">
            <a:avLst>
              <a:gd name="adj" fmla="val 16667"/>
            </a:avLst>
          </a:prstGeom>
          <a:solidFill>
            <a:srgbClr val="F4F6FC"/>
          </a:solidFill>
          <a:ln/>
        </p:spPr>
      </p:sp>
      <p:sp>
        <p:nvSpPr>
          <p:cNvPr id="29" name="Text 26"/>
          <p:cNvSpPr/>
          <p:nvPr/>
        </p:nvSpPr>
        <p:spPr>
          <a:xfrm>
            <a:off x="4361688" y="3749040"/>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Outstanding Exposure</a:t>
            </a:r>
            <a:endParaRPr lang="en-US" sz="1080" dirty="0"/>
          </a:p>
        </p:txBody>
      </p:sp>
      <p:sp>
        <p:nvSpPr>
          <p:cNvPr id="30" name="Shape 27"/>
          <p:cNvSpPr/>
          <p:nvPr/>
        </p:nvSpPr>
        <p:spPr>
          <a:xfrm>
            <a:off x="8069580" y="3749040"/>
            <a:ext cx="3543300" cy="274320"/>
          </a:xfrm>
          <a:prstGeom prst="roundRect">
            <a:avLst>
              <a:gd name="adj" fmla="val 16667"/>
            </a:avLst>
          </a:prstGeom>
          <a:solidFill>
            <a:srgbClr val="F4F6FC"/>
          </a:solidFill>
          <a:ln/>
        </p:spPr>
      </p:sp>
      <p:sp>
        <p:nvSpPr>
          <p:cNvPr id="31" name="Text 28"/>
          <p:cNvSpPr/>
          <p:nvPr/>
        </p:nvSpPr>
        <p:spPr>
          <a:xfrm>
            <a:off x="8179308" y="3749040"/>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Primary Exporter</a:t>
            </a:r>
            <a:endParaRPr lang="en-US" sz="1080" dirty="0"/>
          </a:p>
        </p:txBody>
      </p:sp>
      <p:sp>
        <p:nvSpPr>
          <p:cNvPr id="32" name="Shape 29"/>
          <p:cNvSpPr/>
          <p:nvPr/>
        </p:nvSpPr>
        <p:spPr>
          <a:xfrm>
            <a:off x="4251960" y="4078224"/>
            <a:ext cx="3543300" cy="274320"/>
          </a:xfrm>
          <a:prstGeom prst="roundRect">
            <a:avLst>
              <a:gd name="adj" fmla="val 16667"/>
            </a:avLst>
          </a:prstGeom>
          <a:solidFill>
            <a:srgbClr val="F4F6FC"/>
          </a:solidFill>
          <a:ln/>
        </p:spPr>
      </p:sp>
      <p:sp>
        <p:nvSpPr>
          <p:cNvPr id="33" name="Text 30"/>
          <p:cNvSpPr/>
          <p:nvPr/>
        </p:nvSpPr>
        <p:spPr>
          <a:xfrm>
            <a:off x="4361688" y="4078224"/>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Exporter State</a:t>
            </a:r>
            <a:endParaRPr lang="en-US" sz="1080" dirty="0"/>
          </a:p>
        </p:txBody>
      </p:sp>
      <p:sp>
        <p:nvSpPr>
          <p:cNvPr id="34" name="Shape 31"/>
          <p:cNvSpPr/>
          <p:nvPr/>
        </p:nvSpPr>
        <p:spPr>
          <a:xfrm>
            <a:off x="8069580" y="4078224"/>
            <a:ext cx="3543300" cy="274320"/>
          </a:xfrm>
          <a:prstGeom prst="roundRect">
            <a:avLst>
              <a:gd name="adj" fmla="val 16667"/>
            </a:avLst>
          </a:prstGeom>
          <a:solidFill>
            <a:srgbClr val="F4F6FC"/>
          </a:solidFill>
          <a:ln/>
        </p:spPr>
      </p:sp>
      <p:sp>
        <p:nvSpPr>
          <p:cNvPr id="35" name="Text 32"/>
          <p:cNvSpPr/>
          <p:nvPr/>
        </p:nvSpPr>
        <p:spPr>
          <a:xfrm>
            <a:off x="8179308" y="4078224"/>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Product</a:t>
            </a:r>
            <a:endParaRPr lang="en-US" sz="1080" dirty="0"/>
          </a:p>
        </p:txBody>
      </p:sp>
      <p:sp>
        <p:nvSpPr>
          <p:cNvPr id="36" name="Shape 33"/>
          <p:cNvSpPr/>
          <p:nvPr/>
        </p:nvSpPr>
        <p:spPr>
          <a:xfrm>
            <a:off x="4251960" y="4407408"/>
            <a:ext cx="3543300" cy="274320"/>
          </a:xfrm>
          <a:prstGeom prst="roundRect">
            <a:avLst>
              <a:gd name="adj" fmla="val 16667"/>
            </a:avLst>
          </a:prstGeom>
          <a:solidFill>
            <a:srgbClr val="F4F6FC"/>
          </a:solidFill>
          <a:ln/>
        </p:spPr>
      </p:sp>
      <p:sp>
        <p:nvSpPr>
          <p:cNvPr id="37" name="Text 34"/>
          <p:cNvSpPr/>
          <p:nvPr/>
        </p:nvSpPr>
        <p:spPr>
          <a:xfrm>
            <a:off x="4361688" y="4407408"/>
            <a:ext cx="3360420" cy="274320"/>
          </a:xfrm>
          <a:prstGeom prst="rect">
            <a:avLst/>
          </a:prstGeom>
          <a:noFill/>
          <a:ln/>
        </p:spPr>
        <p:txBody>
          <a:bodyPr wrap="square" lIns="0" tIns="0" rIns="0" bIns="0" rtlCol="0" anchor="ctr"/>
          <a:lstStyle/>
          <a:p>
            <a:pPr indent="0" marL="0">
              <a:buNone/>
            </a:pPr>
            <a:r>
              <a:rPr lang="en-US" sz="1080" dirty="0">
                <a:solidFill>
                  <a:srgbClr val="17191F"/>
                </a:solidFill>
                <a:latin typeface="Calibri" pitchFamily="34" charset="0"/>
                <a:ea typeface="Calibri" pitchFamily="34" charset="-122"/>
                <a:cs typeface="Calibri" pitchFamily="34" charset="-120"/>
              </a:rPr>
              <a:t>Term</a:t>
            </a:r>
            <a:endParaRPr lang="en-US" sz="1080" dirty="0"/>
          </a:p>
        </p:txBody>
      </p:sp>
      <p:sp>
        <p:nvSpPr>
          <p:cNvPr id="38" name="Shape 35"/>
          <p:cNvSpPr/>
          <p:nvPr/>
        </p:nvSpPr>
        <p:spPr>
          <a:xfrm>
            <a:off x="4251960" y="4937760"/>
            <a:ext cx="7360920" cy="1005840"/>
          </a:xfrm>
          <a:prstGeom prst="roundRect">
            <a:avLst>
              <a:gd name="adj" fmla="val 6364"/>
            </a:avLst>
          </a:prstGeom>
          <a:solidFill>
            <a:srgbClr val="EDF1FC"/>
          </a:solidFill>
          <a:ln w="12700">
            <a:solidFill>
              <a:srgbClr val="DDE3F2"/>
            </a:solidFill>
            <a:prstDash val="solid"/>
          </a:ln>
        </p:spPr>
      </p:sp>
      <p:sp>
        <p:nvSpPr>
          <p:cNvPr id="39" name="Text 36"/>
          <p:cNvSpPr/>
          <p:nvPr/>
        </p:nvSpPr>
        <p:spPr>
          <a:xfrm>
            <a:off x="4480560" y="4937760"/>
            <a:ext cx="6903720" cy="1005840"/>
          </a:xfrm>
          <a:prstGeom prst="rect">
            <a:avLst/>
          </a:prstGeom>
          <a:noFill/>
          <a:ln/>
        </p:spPr>
        <p:txBody>
          <a:bodyPr wrap="square" lIns="0" tIns="0" rIns="0" bIns="0" rtlCol="0" anchor="ctr"/>
          <a:lstStyle/>
          <a:p>
            <a:pPr indent="0" marL="0">
              <a:lnSpc>
                <a:spcPct val="120000"/>
              </a:lnSpc>
              <a:buNone/>
            </a:pPr>
            <a:r>
              <a:rPr lang="en-US" sz="1200" b="1" dirty="0">
                <a:solidFill>
                  <a:srgbClr val="1E2761"/>
                </a:solidFill>
                <a:latin typeface="Calibri" pitchFamily="34" charset="0"/>
                <a:ea typeface="Calibri" pitchFamily="34" charset="-122"/>
                <a:cs typeface="Calibri" pitchFamily="34" charset="-120"/>
              </a:rPr>
              <a:t>Objective:  </a:t>
            </a:r>
            <a:pPr indent="0" marL="0">
              <a:lnSpc>
                <a:spcPct val="120000"/>
              </a:lnSpc>
              <a:buNone/>
            </a:pPr>
            <a:r>
              <a:rPr lang="en-US" sz="1200" dirty="0">
                <a:solidFill>
                  <a:srgbClr val="17191F"/>
                </a:solidFill>
                <a:latin typeface="Calibri" pitchFamily="34" charset="0"/>
                <a:ea typeface="Calibri" pitchFamily="34" charset="-122"/>
                <a:cs typeface="Calibri" pitchFamily="34" charset="-120"/>
              </a:rPr>
              <a:t>Transform EXIM Bank's raw financing data into an interactive dashboard that reveals financing trends, geographical distribution, programs and key performance indicators.</a:t>
            </a:r>
            <a:endParaRPr lang="en-US" sz="1200" dirty="0"/>
          </a:p>
        </p:txBody>
      </p:sp>
      <p:sp>
        <p:nvSpPr>
          <p:cNvPr id="40" name="Text 3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41" name="Text 3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Project Workflow</a:t>
            </a:r>
            <a:endParaRPr lang="en-US" sz="3200" dirty="0"/>
          </a:p>
        </p:txBody>
      </p:sp>
      <p:sp>
        <p:nvSpPr>
          <p:cNvPr id="4" name="Shape 2"/>
          <p:cNvSpPr/>
          <p:nvPr/>
        </p:nvSpPr>
        <p:spPr>
          <a:xfrm>
            <a:off x="885009" y="2103120"/>
            <a:ext cx="868680" cy="868680"/>
          </a:xfrm>
          <a:prstGeom prst="ellipse">
            <a:avLst/>
          </a:prstGeom>
          <a:solidFill>
            <a:srgbClr val="3C4693"/>
          </a:solidFill>
          <a:ln/>
        </p:spPr>
      </p:sp>
      <p:pic>
        <p:nvPicPr>
          <p:cNvPr id="5" name="Image 0" descr="/home/claude/exim_deck/icons/excel.png">    </p:cNvPr>
          <p:cNvPicPr>
            <a:picLocks noChangeAspect="1"/>
          </p:cNvPicPr>
          <p:nvPr/>
        </p:nvPicPr>
        <p:blipFill>
          <a:blip r:embed="rId1"/>
          <a:stretch>
            <a:fillRect/>
          </a:stretch>
        </p:blipFill>
        <p:spPr>
          <a:xfrm>
            <a:off x="997937" y="2216048"/>
            <a:ext cx="642823" cy="642823"/>
          </a:xfrm>
          <a:prstGeom prst="rect">
            <a:avLst/>
          </a:prstGeom>
        </p:spPr>
      </p:pic>
      <p:sp>
        <p:nvSpPr>
          <p:cNvPr id="6" name="Text 3"/>
          <p:cNvSpPr/>
          <p:nvPr/>
        </p:nvSpPr>
        <p:spPr>
          <a:xfrm>
            <a:off x="411480"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Excel Dataset</a:t>
            </a:r>
            <a:endParaRPr lang="en-US" sz="1080" dirty="0"/>
          </a:p>
        </p:txBody>
      </p:sp>
      <p:sp>
        <p:nvSpPr>
          <p:cNvPr id="7" name="Text 4"/>
          <p:cNvSpPr/>
          <p:nvPr/>
        </p:nvSpPr>
        <p:spPr>
          <a:xfrm>
            <a:off x="411480"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Source data</a:t>
            </a:r>
            <a:endParaRPr lang="en-US" sz="930" dirty="0"/>
          </a:p>
        </p:txBody>
      </p:sp>
      <p:pic>
        <p:nvPicPr>
          <p:cNvPr id="8" name="Image 1" descr="/home/claude/exim_deck/icons/arrow_right.png">    </p:cNvPr>
          <p:cNvPicPr>
            <a:picLocks noChangeAspect="1"/>
          </p:cNvPicPr>
          <p:nvPr/>
        </p:nvPicPr>
        <p:blipFill>
          <a:blip r:embed="rId2"/>
          <a:stretch>
            <a:fillRect/>
          </a:stretch>
        </p:blipFill>
        <p:spPr>
          <a:xfrm>
            <a:off x="1989473" y="2436876"/>
            <a:ext cx="201168" cy="201168"/>
          </a:xfrm>
          <a:prstGeom prst="rect">
            <a:avLst/>
          </a:prstGeom>
        </p:spPr>
      </p:pic>
      <p:sp>
        <p:nvSpPr>
          <p:cNvPr id="9" name="Shape 5"/>
          <p:cNvSpPr/>
          <p:nvPr/>
        </p:nvSpPr>
        <p:spPr>
          <a:xfrm>
            <a:off x="2426426" y="2103120"/>
            <a:ext cx="868680" cy="868680"/>
          </a:xfrm>
          <a:prstGeom prst="ellipse">
            <a:avLst/>
          </a:prstGeom>
          <a:solidFill>
            <a:srgbClr val="3C4693"/>
          </a:solidFill>
          <a:ln/>
        </p:spPr>
      </p:sp>
      <p:pic>
        <p:nvPicPr>
          <p:cNvPr id="10" name="Image 2" descr="/home/claude/exim_deck/icons/database_zap.png">    </p:cNvPr>
          <p:cNvPicPr>
            <a:picLocks noChangeAspect="1"/>
          </p:cNvPicPr>
          <p:nvPr/>
        </p:nvPicPr>
        <p:blipFill>
          <a:blip r:embed="rId3"/>
          <a:stretch>
            <a:fillRect/>
          </a:stretch>
        </p:blipFill>
        <p:spPr>
          <a:xfrm>
            <a:off x="2539354" y="2216048"/>
            <a:ext cx="642823" cy="642823"/>
          </a:xfrm>
          <a:prstGeom prst="rect">
            <a:avLst/>
          </a:prstGeom>
        </p:spPr>
      </p:pic>
      <p:sp>
        <p:nvSpPr>
          <p:cNvPr id="11" name="Text 6"/>
          <p:cNvSpPr/>
          <p:nvPr/>
        </p:nvSpPr>
        <p:spPr>
          <a:xfrm>
            <a:off x="1952897"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Data Import</a:t>
            </a:r>
            <a:endParaRPr lang="en-US" sz="1080" dirty="0"/>
          </a:p>
        </p:txBody>
      </p:sp>
      <p:sp>
        <p:nvSpPr>
          <p:cNvPr id="12" name="Text 7"/>
          <p:cNvSpPr/>
          <p:nvPr/>
        </p:nvSpPr>
        <p:spPr>
          <a:xfrm>
            <a:off x="1952897"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Loaded into Power BI</a:t>
            </a:r>
            <a:endParaRPr lang="en-US" sz="930" dirty="0"/>
          </a:p>
        </p:txBody>
      </p:sp>
      <p:pic>
        <p:nvPicPr>
          <p:cNvPr id="13" name="Image 3" descr="/home/claude/exim_deck/icons/arrow_right.png">    </p:cNvPr>
          <p:cNvPicPr>
            <a:picLocks noChangeAspect="1"/>
          </p:cNvPicPr>
          <p:nvPr/>
        </p:nvPicPr>
        <p:blipFill>
          <a:blip r:embed="rId4"/>
          <a:stretch>
            <a:fillRect/>
          </a:stretch>
        </p:blipFill>
        <p:spPr>
          <a:xfrm>
            <a:off x="3530890" y="2436876"/>
            <a:ext cx="201168" cy="201168"/>
          </a:xfrm>
          <a:prstGeom prst="rect">
            <a:avLst/>
          </a:prstGeom>
        </p:spPr>
      </p:pic>
      <p:sp>
        <p:nvSpPr>
          <p:cNvPr id="14" name="Shape 8"/>
          <p:cNvSpPr/>
          <p:nvPr/>
        </p:nvSpPr>
        <p:spPr>
          <a:xfrm>
            <a:off x="3967843" y="2103120"/>
            <a:ext cx="868680" cy="868680"/>
          </a:xfrm>
          <a:prstGeom prst="ellipse">
            <a:avLst/>
          </a:prstGeom>
          <a:solidFill>
            <a:srgbClr val="3C4693"/>
          </a:solidFill>
          <a:ln/>
        </p:spPr>
      </p:sp>
      <p:pic>
        <p:nvPicPr>
          <p:cNvPr id="15" name="Image 4" descr="/home/claude/exim_deck/icons/wand.png">    </p:cNvPr>
          <p:cNvPicPr>
            <a:picLocks noChangeAspect="1"/>
          </p:cNvPicPr>
          <p:nvPr/>
        </p:nvPicPr>
        <p:blipFill>
          <a:blip r:embed="rId5"/>
          <a:stretch>
            <a:fillRect/>
          </a:stretch>
        </p:blipFill>
        <p:spPr>
          <a:xfrm>
            <a:off x="4080771" y="2216048"/>
            <a:ext cx="642823" cy="642823"/>
          </a:xfrm>
          <a:prstGeom prst="rect">
            <a:avLst/>
          </a:prstGeom>
        </p:spPr>
      </p:pic>
      <p:sp>
        <p:nvSpPr>
          <p:cNvPr id="16" name="Text 9"/>
          <p:cNvSpPr/>
          <p:nvPr/>
        </p:nvSpPr>
        <p:spPr>
          <a:xfrm>
            <a:off x="3494314"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Power Query</a:t>
            </a:r>
            <a:endParaRPr lang="en-US" sz="1080" dirty="0"/>
          </a:p>
        </p:txBody>
      </p:sp>
      <p:sp>
        <p:nvSpPr>
          <p:cNvPr id="17" name="Text 10"/>
          <p:cNvSpPr/>
          <p:nvPr/>
        </p:nvSpPr>
        <p:spPr>
          <a:xfrm>
            <a:off x="3494314"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Cleaning &amp; transformation</a:t>
            </a:r>
            <a:endParaRPr lang="en-US" sz="930" dirty="0"/>
          </a:p>
        </p:txBody>
      </p:sp>
      <p:pic>
        <p:nvPicPr>
          <p:cNvPr id="18" name="Image 5" descr="/home/claude/exim_deck/icons/arrow_right.png">    </p:cNvPr>
          <p:cNvPicPr>
            <a:picLocks noChangeAspect="1"/>
          </p:cNvPicPr>
          <p:nvPr/>
        </p:nvPicPr>
        <p:blipFill>
          <a:blip r:embed="rId6"/>
          <a:stretch>
            <a:fillRect/>
          </a:stretch>
        </p:blipFill>
        <p:spPr>
          <a:xfrm>
            <a:off x="5072307" y="2436876"/>
            <a:ext cx="201168" cy="201168"/>
          </a:xfrm>
          <a:prstGeom prst="rect">
            <a:avLst/>
          </a:prstGeom>
        </p:spPr>
      </p:pic>
      <p:sp>
        <p:nvSpPr>
          <p:cNvPr id="19" name="Shape 11"/>
          <p:cNvSpPr/>
          <p:nvPr/>
        </p:nvSpPr>
        <p:spPr>
          <a:xfrm>
            <a:off x="5509260" y="2103120"/>
            <a:ext cx="868680" cy="868680"/>
          </a:xfrm>
          <a:prstGeom prst="ellipse">
            <a:avLst/>
          </a:prstGeom>
          <a:solidFill>
            <a:srgbClr val="3C4693"/>
          </a:solidFill>
          <a:ln/>
        </p:spPr>
      </p:sp>
      <p:pic>
        <p:nvPicPr>
          <p:cNvPr id="20" name="Image 6" descr="/home/claude/exim_deck/icons/sigma.png">    </p:cNvPr>
          <p:cNvPicPr>
            <a:picLocks noChangeAspect="1"/>
          </p:cNvPicPr>
          <p:nvPr/>
        </p:nvPicPr>
        <p:blipFill>
          <a:blip r:embed="rId7"/>
          <a:stretch>
            <a:fillRect/>
          </a:stretch>
        </p:blipFill>
        <p:spPr>
          <a:xfrm>
            <a:off x="5622188" y="2216048"/>
            <a:ext cx="642823" cy="642823"/>
          </a:xfrm>
          <a:prstGeom prst="rect">
            <a:avLst/>
          </a:prstGeom>
        </p:spPr>
      </p:pic>
      <p:sp>
        <p:nvSpPr>
          <p:cNvPr id="21" name="Text 12"/>
          <p:cNvSpPr/>
          <p:nvPr/>
        </p:nvSpPr>
        <p:spPr>
          <a:xfrm>
            <a:off x="5035731"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DAX Measures</a:t>
            </a:r>
            <a:endParaRPr lang="en-US" sz="1080" dirty="0"/>
          </a:p>
        </p:txBody>
      </p:sp>
      <p:sp>
        <p:nvSpPr>
          <p:cNvPr id="22" name="Text 13"/>
          <p:cNvSpPr/>
          <p:nvPr/>
        </p:nvSpPr>
        <p:spPr>
          <a:xfrm>
            <a:off x="5035731"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Calculations &amp; KPIs</a:t>
            </a:r>
            <a:endParaRPr lang="en-US" sz="930" dirty="0"/>
          </a:p>
        </p:txBody>
      </p:sp>
      <p:pic>
        <p:nvPicPr>
          <p:cNvPr id="23" name="Image 7" descr="/home/claude/exim_deck/icons/arrow_right.png">    </p:cNvPr>
          <p:cNvPicPr>
            <a:picLocks noChangeAspect="1"/>
          </p:cNvPicPr>
          <p:nvPr/>
        </p:nvPicPr>
        <p:blipFill>
          <a:blip r:embed="rId8"/>
          <a:stretch>
            <a:fillRect/>
          </a:stretch>
        </p:blipFill>
        <p:spPr>
          <a:xfrm>
            <a:off x="6613725" y="2436876"/>
            <a:ext cx="201168" cy="201168"/>
          </a:xfrm>
          <a:prstGeom prst="rect">
            <a:avLst/>
          </a:prstGeom>
        </p:spPr>
      </p:pic>
      <p:sp>
        <p:nvSpPr>
          <p:cNvPr id="24" name="Shape 14"/>
          <p:cNvSpPr/>
          <p:nvPr/>
        </p:nvSpPr>
        <p:spPr>
          <a:xfrm>
            <a:off x="7050677" y="2103120"/>
            <a:ext cx="868680" cy="868680"/>
          </a:xfrm>
          <a:prstGeom prst="ellipse">
            <a:avLst/>
          </a:prstGeom>
          <a:solidFill>
            <a:srgbClr val="3C4693"/>
          </a:solidFill>
          <a:ln/>
        </p:spPr>
      </p:sp>
      <p:pic>
        <p:nvPicPr>
          <p:cNvPr id="25" name="Image 8" descr="/home/claude/exim_deck/icons/chart_bar.png">    </p:cNvPr>
          <p:cNvPicPr>
            <a:picLocks noChangeAspect="1"/>
          </p:cNvPicPr>
          <p:nvPr/>
        </p:nvPicPr>
        <p:blipFill>
          <a:blip r:embed="rId9"/>
          <a:stretch>
            <a:fillRect/>
          </a:stretch>
        </p:blipFill>
        <p:spPr>
          <a:xfrm>
            <a:off x="7163606" y="2216048"/>
            <a:ext cx="642823" cy="642823"/>
          </a:xfrm>
          <a:prstGeom prst="rect">
            <a:avLst/>
          </a:prstGeom>
        </p:spPr>
      </p:pic>
      <p:sp>
        <p:nvSpPr>
          <p:cNvPr id="26" name="Text 15"/>
          <p:cNvSpPr/>
          <p:nvPr/>
        </p:nvSpPr>
        <p:spPr>
          <a:xfrm>
            <a:off x="6577149"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Data Visualization</a:t>
            </a:r>
            <a:endParaRPr lang="en-US" sz="1080" dirty="0"/>
          </a:p>
        </p:txBody>
      </p:sp>
      <p:sp>
        <p:nvSpPr>
          <p:cNvPr id="27" name="Text 16"/>
          <p:cNvSpPr/>
          <p:nvPr/>
        </p:nvSpPr>
        <p:spPr>
          <a:xfrm>
            <a:off x="6577149"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Charts &amp; visuals</a:t>
            </a:r>
            <a:endParaRPr lang="en-US" sz="930" dirty="0"/>
          </a:p>
        </p:txBody>
      </p:sp>
      <p:pic>
        <p:nvPicPr>
          <p:cNvPr id="28" name="Image 9" descr="/home/claude/exim_deck/icons/arrow_right.png">    </p:cNvPr>
          <p:cNvPicPr>
            <a:picLocks noChangeAspect="1"/>
          </p:cNvPicPr>
          <p:nvPr/>
        </p:nvPicPr>
        <p:blipFill>
          <a:blip r:embed="rId10"/>
          <a:stretch>
            <a:fillRect/>
          </a:stretch>
        </p:blipFill>
        <p:spPr>
          <a:xfrm>
            <a:off x="8155142" y="2436876"/>
            <a:ext cx="201168" cy="201168"/>
          </a:xfrm>
          <a:prstGeom prst="rect">
            <a:avLst/>
          </a:prstGeom>
        </p:spPr>
      </p:pic>
      <p:sp>
        <p:nvSpPr>
          <p:cNvPr id="29" name="Shape 17"/>
          <p:cNvSpPr/>
          <p:nvPr/>
        </p:nvSpPr>
        <p:spPr>
          <a:xfrm>
            <a:off x="8592094" y="2103120"/>
            <a:ext cx="868680" cy="868680"/>
          </a:xfrm>
          <a:prstGeom prst="ellipse">
            <a:avLst/>
          </a:prstGeom>
          <a:solidFill>
            <a:srgbClr val="3C4693"/>
          </a:solidFill>
          <a:ln/>
        </p:spPr>
      </p:sp>
      <p:pic>
        <p:nvPicPr>
          <p:cNvPr id="30" name="Image 10" descr="/home/claude/exim_deck/icons/layout_dashboard.png">    </p:cNvPr>
          <p:cNvPicPr>
            <a:picLocks noChangeAspect="1"/>
          </p:cNvPicPr>
          <p:nvPr/>
        </p:nvPicPr>
        <p:blipFill>
          <a:blip r:embed="rId11"/>
          <a:stretch>
            <a:fillRect/>
          </a:stretch>
        </p:blipFill>
        <p:spPr>
          <a:xfrm>
            <a:off x="8705023" y="2216048"/>
            <a:ext cx="642823" cy="642823"/>
          </a:xfrm>
          <a:prstGeom prst="rect">
            <a:avLst/>
          </a:prstGeom>
        </p:spPr>
      </p:pic>
      <p:sp>
        <p:nvSpPr>
          <p:cNvPr id="31" name="Text 18"/>
          <p:cNvSpPr/>
          <p:nvPr/>
        </p:nvSpPr>
        <p:spPr>
          <a:xfrm>
            <a:off x="8118566"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Interactive Dashboard</a:t>
            </a:r>
            <a:endParaRPr lang="en-US" sz="1080" dirty="0"/>
          </a:p>
        </p:txBody>
      </p:sp>
      <p:sp>
        <p:nvSpPr>
          <p:cNvPr id="32" name="Text 19"/>
          <p:cNvSpPr/>
          <p:nvPr/>
        </p:nvSpPr>
        <p:spPr>
          <a:xfrm>
            <a:off x="8118566"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Power BI report</a:t>
            </a:r>
            <a:endParaRPr lang="en-US" sz="930" dirty="0"/>
          </a:p>
        </p:txBody>
      </p:sp>
      <p:pic>
        <p:nvPicPr>
          <p:cNvPr id="33" name="Image 11" descr="/home/claude/exim_deck/icons/arrow_right.png">    </p:cNvPr>
          <p:cNvPicPr>
            <a:picLocks noChangeAspect="1"/>
          </p:cNvPicPr>
          <p:nvPr/>
        </p:nvPicPr>
        <p:blipFill>
          <a:blip r:embed="rId12"/>
          <a:stretch>
            <a:fillRect/>
          </a:stretch>
        </p:blipFill>
        <p:spPr>
          <a:xfrm>
            <a:off x="9696559" y="2436876"/>
            <a:ext cx="201168" cy="201168"/>
          </a:xfrm>
          <a:prstGeom prst="rect">
            <a:avLst/>
          </a:prstGeom>
        </p:spPr>
      </p:pic>
      <p:sp>
        <p:nvSpPr>
          <p:cNvPr id="34" name="Shape 20"/>
          <p:cNvSpPr/>
          <p:nvPr/>
        </p:nvSpPr>
        <p:spPr>
          <a:xfrm>
            <a:off x="10133511" y="2103120"/>
            <a:ext cx="868680" cy="868680"/>
          </a:xfrm>
          <a:prstGeom prst="ellipse">
            <a:avLst/>
          </a:prstGeom>
          <a:solidFill>
            <a:srgbClr val="1E2761"/>
          </a:solidFill>
          <a:ln/>
        </p:spPr>
      </p:sp>
      <p:pic>
        <p:nvPicPr>
          <p:cNvPr id="35" name="Image 12" descr="/home/claude/exim_deck/icons/lightbulb.png">    </p:cNvPr>
          <p:cNvPicPr>
            <a:picLocks noChangeAspect="1"/>
          </p:cNvPicPr>
          <p:nvPr/>
        </p:nvPicPr>
        <p:blipFill>
          <a:blip r:embed="rId13"/>
          <a:stretch>
            <a:fillRect/>
          </a:stretch>
        </p:blipFill>
        <p:spPr>
          <a:xfrm>
            <a:off x="10246440" y="2216048"/>
            <a:ext cx="642823" cy="642823"/>
          </a:xfrm>
          <a:prstGeom prst="rect">
            <a:avLst/>
          </a:prstGeom>
        </p:spPr>
      </p:pic>
      <p:sp>
        <p:nvSpPr>
          <p:cNvPr id="36" name="Text 21"/>
          <p:cNvSpPr/>
          <p:nvPr/>
        </p:nvSpPr>
        <p:spPr>
          <a:xfrm>
            <a:off x="9659983" y="3108960"/>
            <a:ext cx="1815737" cy="502920"/>
          </a:xfrm>
          <a:prstGeom prst="rect">
            <a:avLst/>
          </a:prstGeom>
          <a:noFill/>
          <a:ln/>
        </p:spPr>
        <p:txBody>
          <a:bodyPr wrap="square" lIns="0" tIns="0" rIns="0" bIns="0" rtlCol="0" anchor="ctr"/>
          <a:lstStyle/>
          <a:p>
            <a:pPr algn="ctr" indent="0" marL="0">
              <a:lnSpc>
                <a:spcPct val="105000"/>
              </a:lnSpc>
              <a:buNone/>
            </a:pPr>
            <a:r>
              <a:rPr lang="en-US" sz="1080" b="1" dirty="0">
                <a:solidFill>
                  <a:srgbClr val="17191F"/>
                </a:solidFill>
                <a:latin typeface="Calibri" pitchFamily="34" charset="0"/>
                <a:ea typeface="Calibri" pitchFamily="34" charset="-122"/>
                <a:cs typeface="Calibri" pitchFamily="34" charset="-120"/>
              </a:rPr>
              <a:t>Business Insights</a:t>
            </a:r>
            <a:endParaRPr lang="en-US" sz="1080" dirty="0"/>
          </a:p>
        </p:txBody>
      </p:sp>
      <p:sp>
        <p:nvSpPr>
          <p:cNvPr id="37" name="Text 22"/>
          <p:cNvSpPr/>
          <p:nvPr/>
        </p:nvSpPr>
        <p:spPr>
          <a:xfrm>
            <a:off x="9659983" y="3593592"/>
            <a:ext cx="1815737" cy="548640"/>
          </a:xfrm>
          <a:prstGeom prst="rect">
            <a:avLst/>
          </a:prstGeom>
          <a:noFill/>
          <a:ln/>
        </p:spPr>
        <p:txBody>
          <a:bodyPr wrap="square" lIns="0" tIns="0" rIns="0" bIns="0" rtlCol="0" anchor="ctr"/>
          <a:lstStyle/>
          <a:p>
            <a:pPr algn="ctr" indent="0" marL="0">
              <a:lnSpc>
                <a:spcPct val="105000"/>
              </a:lnSpc>
              <a:buNone/>
            </a:pPr>
            <a:r>
              <a:rPr lang="en-US" sz="930" dirty="0">
                <a:solidFill>
                  <a:srgbClr val="5A6072"/>
                </a:solidFill>
                <a:latin typeface="Calibri" pitchFamily="34" charset="0"/>
                <a:ea typeface="Calibri" pitchFamily="34" charset="-122"/>
                <a:cs typeface="Calibri" pitchFamily="34" charset="-120"/>
              </a:rPr>
              <a:t>Decision support</a:t>
            </a:r>
            <a:endParaRPr lang="en-US" sz="930" dirty="0"/>
          </a:p>
        </p:txBody>
      </p:sp>
      <p:sp>
        <p:nvSpPr>
          <p:cNvPr id="38" name="Shape 23"/>
          <p:cNvSpPr/>
          <p:nvPr/>
        </p:nvSpPr>
        <p:spPr>
          <a:xfrm>
            <a:off x="982980" y="2537460"/>
            <a:ext cx="10195560" cy="0"/>
          </a:xfrm>
          <a:prstGeom prst="line">
            <a:avLst/>
          </a:prstGeom>
          <a:noFill/>
          <a:ln w="19050">
            <a:solidFill>
              <a:srgbClr val="DDE3F2"/>
            </a:solidFill>
            <a:prstDash val="sysDot"/>
          </a:ln>
        </p:spPr>
      </p:sp>
      <p:sp>
        <p:nvSpPr>
          <p:cNvPr id="39" name="Shape 24"/>
          <p:cNvSpPr/>
          <p:nvPr/>
        </p:nvSpPr>
        <p:spPr>
          <a:xfrm>
            <a:off x="548640" y="5074920"/>
            <a:ext cx="11064240" cy="1005840"/>
          </a:xfrm>
          <a:prstGeom prst="roundRect">
            <a:avLst>
              <a:gd name="adj" fmla="val 6364"/>
            </a:avLst>
          </a:prstGeom>
          <a:solidFill>
            <a:srgbClr val="F4F6FC"/>
          </a:solidFill>
          <a:ln w="12700">
            <a:solidFill>
              <a:srgbClr val="DDE3F2"/>
            </a:solidFill>
            <a:prstDash val="solid"/>
          </a:ln>
        </p:spPr>
      </p:sp>
      <p:sp>
        <p:nvSpPr>
          <p:cNvPr id="40" name="Text 25"/>
          <p:cNvSpPr/>
          <p:nvPr/>
        </p:nvSpPr>
        <p:spPr>
          <a:xfrm>
            <a:off x="822960" y="5074920"/>
            <a:ext cx="10515600" cy="1005840"/>
          </a:xfrm>
          <a:prstGeom prst="rect">
            <a:avLst/>
          </a:prstGeom>
          <a:noFill/>
          <a:ln/>
        </p:spPr>
        <p:txBody>
          <a:bodyPr wrap="square" lIns="0" tIns="0" rIns="0" bIns="0" rtlCol="0" anchor="ctr"/>
          <a:lstStyle/>
          <a:p>
            <a:pPr indent="0" marL="0">
              <a:lnSpc>
                <a:spcPct val="130000"/>
              </a:lnSpc>
              <a:buNone/>
            </a:pPr>
            <a:r>
              <a:rPr lang="en-US" sz="1150" b="1" dirty="0">
                <a:solidFill>
                  <a:srgbClr val="1E2761"/>
                </a:solidFill>
                <a:latin typeface="Calibri" pitchFamily="34" charset="0"/>
                <a:ea typeface="Calibri" pitchFamily="34" charset="-122"/>
                <a:cs typeface="Calibri" pitchFamily="34" charset="-120"/>
              </a:rPr>
              <a:t>Excel</a:t>
            </a:r>
            <a:pPr indent="0" marL="0">
              <a:lnSpc>
                <a:spcPct val="130000"/>
              </a:lnSpc>
              <a:buNone/>
            </a:pPr>
            <a:r>
              <a:rPr lang="en-US" sz="1150" dirty="0">
                <a:solidFill>
                  <a:srgbClr val="17191F"/>
                </a:solidFill>
                <a:latin typeface="Calibri" pitchFamily="34" charset="0"/>
                <a:ea typeface="Calibri" pitchFamily="34" charset="-122"/>
                <a:cs typeface="Calibri" pitchFamily="34" charset="-120"/>
              </a:rPr>
              <a:t> → source data.   </a:t>
            </a:r>
            <a:pPr indent="0" marL="0">
              <a:lnSpc>
                <a:spcPct val="130000"/>
              </a:lnSpc>
              <a:buNone/>
            </a:pPr>
            <a:r>
              <a:rPr lang="en-US" sz="1150" b="1" dirty="0">
                <a:solidFill>
                  <a:srgbClr val="1E2761"/>
                </a:solidFill>
                <a:latin typeface="Calibri" pitchFamily="34" charset="0"/>
                <a:ea typeface="Calibri" pitchFamily="34" charset="-122"/>
                <a:cs typeface="Calibri" pitchFamily="34" charset="-120"/>
              </a:rPr>
              <a:t>Power Query</a:t>
            </a:r>
            <a:pPr indent="0" marL="0">
              <a:lnSpc>
                <a:spcPct val="130000"/>
              </a:lnSpc>
              <a:buNone/>
            </a:pPr>
            <a:r>
              <a:rPr lang="en-US" sz="1150" dirty="0">
                <a:solidFill>
                  <a:srgbClr val="17191F"/>
                </a:solidFill>
                <a:latin typeface="Calibri" pitchFamily="34" charset="0"/>
                <a:ea typeface="Calibri" pitchFamily="34" charset="-122"/>
                <a:cs typeface="Calibri" pitchFamily="34" charset="-120"/>
              </a:rPr>
              <a:t> → cleaning &amp; transformation.   </a:t>
            </a:r>
            <a:pPr indent="0" marL="0">
              <a:lnSpc>
                <a:spcPct val="130000"/>
              </a:lnSpc>
              <a:buNone/>
            </a:pPr>
            <a:r>
              <a:rPr lang="en-US" sz="1150" b="1" dirty="0">
                <a:solidFill>
                  <a:srgbClr val="1E2761"/>
                </a:solidFill>
                <a:latin typeface="Calibri" pitchFamily="34" charset="0"/>
                <a:ea typeface="Calibri" pitchFamily="34" charset="-122"/>
                <a:cs typeface="Calibri" pitchFamily="34" charset="-120"/>
              </a:rPr>
              <a:t>DAX</a:t>
            </a:r>
            <a:pPr indent="0" marL="0">
              <a:lnSpc>
                <a:spcPct val="130000"/>
              </a:lnSpc>
              <a:buNone/>
            </a:pPr>
            <a:r>
              <a:rPr lang="en-US" sz="1150" dirty="0">
                <a:solidFill>
                  <a:srgbClr val="17191F"/>
                </a:solidFill>
                <a:latin typeface="Calibri" pitchFamily="34" charset="0"/>
                <a:ea typeface="Calibri" pitchFamily="34" charset="-122"/>
                <a:cs typeface="Calibri" pitchFamily="34" charset="-120"/>
              </a:rPr>
              <a:t> → calculations &amp; KPIs.   </a:t>
            </a:r>
            <a:pPr indent="0" marL="0">
              <a:lnSpc>
                <a:spcPct val="130000"/>
              </a:lnSpc>
              <a:buNone/>
            </a:pPr>
            <a:r>
              <a:rPr lang="en-US" sz="1150" b="1" dirty="0">
                <a:solidFill>
                  <a:srgbClr val="1E2761"/>
                </a:solidFill>
                <a:latin typeface="Calibri" pitchFamily="34" charset="0"/>
                <a:ea typeface="Calibri" pitchFamily="34" charset="-122"/>
                <a:cs typeface="Calibri" pitchFamily="34" charset="-120"/>
              </a:rPr>
              <a:t>Power BI</a:t>
            </a:r>
            <a:pPr indent="0" marL="0">
              <a:lnSpc>
                <a:spcPct val="130000"/>
              </a:lnSpc>
              <a:buNone/>
            </a:pPr>
            <a:r>
              <a:rPr lang="en-US" sz="1150" dirty="0">
                <a:solidFill>
                  <a:srgbClr val="17191F"/>
                </a:solidFill>
                <a:latin typeface="Calibri" pitchFamily="34" charset="0"/>
                <a:ea typeface="Calibri" pitchFamily="34" charset="-122"/>
                <a:cs typeface="Calibri" pitchFamily="34" charset="-120"/>
              </a:rPr>
              <a:t> → visualization &amp; dashboard.   </a:t>
            </a:r>
            <a:pPr indent="0" marL="0">
              <a:lnSpc>
                <a:spcPct val="130000"/>
              </a:lnSpc>
              <a:buNone/>
            </a:pPr>
            <a:r>
              <a:rPr lang="en-US" sz="1150" b="1" dirty="0">
                <a:solidFill>
                  <a:srgbClr val="1E2761"/>
                </a:solidFill>
                <a:latin typeface="Calibri" pitchFamily="34" charset="0"/>
                <a:ea typeface="Calibri" pitchFamily="34" charset="-122"/>
                <a:cs typeface="Calibri" pitchFamily="34" charset="-120"/>
              </a:rPr>
              <a:t>Dashboard</a:t>
            </a:r>
            <a:pPr indent="0" marL="0">
              <a:lnSpc>
                <a:spcPct val="130000"/>
              </a:lnSpc>
              <a:buNone/>
            </a:pPr>
            <a:r>
              <a:rPr lang="en-US" sz="1150" dirty="0">
                <a:solidFill>
                  <a:srgbClr val="17191F"/>
                </a:solidFill>
                <a:latin typeface="Calibri" pitchFamily="34" charset="0"/>
                <a:ea typeface="Calibri" pitchFamily="34" charset="-122"/>
                <a:cs typeface="Calibri" pitchFamily="34" charset="-120"/>
              </a:rPr>
              <a:t> → business insights.</a:t>
            </a:r>
            <a:endParaRPr lang="en-US" sz="1150" dirty="0"/>
          </a:p>
        </p:txBody>
      </p:sp>
      <p:sp>
        <p:nvSpPr>
          <p:cNvPr id="41"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42" name="Text 2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DELIVERABLE</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EXIM Bank Power BI Dashboard</a:t>
            </a:r>
            <a:endParaRPr lang="en-US" sz="3200" dirty="0"/>
          </a:p>
        </p:txBody>
      </p:sp>
      <p:sp>
        <p:nvSpPr>
          <p:cNvPr id="4" name="Shape 2"/>
          <p:cNvSpPr/>
          <p:nvPr/>
        </p:nvSpPr>
        <p:spPr>
          <a:xfrm>
            <a:off x="548640" y="1371600"/>
            <a:ext cx="7223760" cy="4892040"/>
          </a:xfrm>
          <a:prstGeom prst="roundRect">
            <a:avLst>
              <a:gd name="adj" fmla="val 1121"/>
            </a:avLst>
          </a:prstGeom>
          <a:solidFill>
            <a:srgbClr val="F4F6FC"/>
          </a:solidFill>
          <a:ln w="19050">
            <a:solidFill>
              <a:srgbClr val="1E2761"/>
            </a:solidFill>
            <a:prstDash val="dash"/>
          </a:ln>
        </p:spPr>
      </p:sp>
      <p:sp>
        <p:nvSpPr>
          <p:cNvPr id="5" name="Shape 3"/>
          <p:cNvSpPr/>
          <p:nvPr/>
        </p:nvSpPr>
        <p:spPr>
          <a:xfrm>
            <a:off x="3703320" y="3131820"/>
            <a:ext cx="914400" cy="914400"/>
          </a:xfrm>
          <a:prstGeom prst="ellipse">
            <a:avLst/>
          </a:prstGeom>
          <a:solidFill>
            <a:srgbClr val="1E2761"/>
          </a:solidFill>
          <a:ln/>
        </p:spPr>
      </p:sp>
      <p:pic>
        <p:nvPicPr>
          <p:cNvPr id="6" name="Image 0" descr="/home/claude/exim_deck/icons/layout_dashboard.png">    </p:cNvPr>
          <p:cNvPicPr>
            <a:picLocks noChangeAspect="1"/>
          </p:cNvPicPr>
          <p:nvPr/>
        </p:nvPicPr>
        <p:blipFill>
          <a:blip r:embed="rId1"/>
          <a:stretch>
            <a:fillRect/>
          </a:stretch>
        </p:blipFill>
        <p:spPr>
          <a:xfrm>
            <a:off x="3822192" y="3250692"/>
            <a:ext cx="676656" cy="676656"/>
          </a:xfrm>
          <a:prstGeom prst="rect">
            <a:avLst/>
          </a:prstGeom>
        </p:spPr>
      </p:pic>
      <p:sp>
        <p:nvSpPr>
          <p:cNvPr id="7" name="Text 4"/>
          <p:cNvSpPr/>
          <p:nvPr/>
        </p:nvSpPr>
        <p:spPr>
          <a:xfrm>
            <a:off x="914400" y="4137660"/>
            <a:ext cx="6492240" cy="45720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 INSERT POWER BI DASHBOARD SCREENSHOT HERE ]</a:t>
            </a:r>
            <a:endParaRPr lang="en-US" sz="1350" dirty="0"/>
          </a:p>
        </p:txBody>
      </p:sp>
      <p:sp>
        <p:nvSpPr>
          <p:cNvPr id="8" name="Text 5"/>
          <p:cNvSpPr/>
          <p:nvPr/>
        </p:nvSpPr>
        <p:spPr>
          <a:xfrm>
            <a:off x="8001000" y="1371600"/>
            <a:ext cx="36576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Dashboard Elements</a:t>
            </a:r>
            <a:endParaRPr lang="en-US" sz="1300" dirty="0"/>
          </a:p>
        </p:txBody>
      </p:sp>
      <p:sp>
        <p:nvSpPr>
          <p:cNvPr id="9" name="Shape 6"/>
          <p:cNvSpPr/>
          <p:nvPr/>
        </p:nvSpPr>
        <p:spPr>
          <a:xfrm>
            <a:off x="8001000" y="1783080"/>
            <a:ext cx="384048" cy="384048"/>
          </a:xfrm>
          <a:prstGeom prst="ellipse">
            <a:avLst/>
          </a:prstGeom>
          <a:solidFill>
            <a:srgbClr val="1E2761"/>
          </a:solidFill>
          <a:ln/>
        </p:spPr>
      </p:sp>
      <p:pic>
        <p:nvPicPr>
          <p:cNvPr id="10" name="Image 1" descr="/home/claude/exim_deck/icons/kpi.png">    </p:cNvPr>
          <p:cNvPicPr>
            <a:picLocks noChangeAspect="1"/>
          </p:cNvPicPr>
          <p:nvPr/>
        </p:nvPicPr>
        <p:blipFill>
          <a:blip r:embed="rId2"/>
          <a:stretch>
            <a:fillRect/>
          </a:stretch>
        </p:blipFill>
        <p:spPr>
          <a:xfrm>
            <a:off x="8050926" y="1833006"/>
            <a:ext cx="284196" cy="284196"/>
          </a:xfrm>
          <a:prstGeom prst="rect">
            <a:avLst/>
          </a:prstGeom>
        </p:spPr>
      </p:pic>
      <p:sp>
        <p:nvSpPr>
          <p:cNvPr id="11" name="Text 7"/>
          <p:cNvSpPr/>
          <p:nvPr/>
        </p:nvSpPr>
        <p:spPr>
          <a:xfrm>
            <a:off x="8503920" y="1755648"/>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KPI Cards</a:t>
            </a:r>
            <a:endParaRPr lang="en-US" sz="1150" dirty="0"/>
          </a:p>
        </p:txBody>
      </p:sp>
      <p:sp>
        <p:nvSpPr>
          <p:cNvPr id="12" name="Text 8"/>
          <p:cNvSpPr/>
          <p:nvPr/>
        </p:nvSpPr>
        <p:spPr>
          <a:xfrm>
            <a:off x="8503920" y="2002536"/>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Key performance indicators</a:t>
            </a:r>
            <a:endParaRPr lang="en-US" sz="980" dirty="0"/>
          </a:p>
        </p:txBody>
      </p:sp>
      <p:sp>
        <p:nvSpPr>
          <p:cNvPr id="13" name="Shape 9"/>
          <p:cNvSpPr/>
          <p:nvPr/>
        </p:nvSpPr>
        <p:spPr>
          <a:xfrm>
            <a:off x="8001000" y="2404872"/>
            <a:ext cx="384048" cy="384048"/>
          </a:xfrm>
          <a:prstGeom prst="ellipse">
            <a:avLst/>
          </a:prstGeom>
          <a:solidFill>
            <a:srgbClr val="1E2761"/>
          </a:solidFill>
          <a:ln/>
        </p:spPr>
      </p:sp>
      <p:pic>
        <p:nvPicPr>
          <p:cNvPr id="14" name="Image 2" descr="/home/claude/exim_deck/icons/chart_line.png">    </p:cNvPr>
          <p:cNvPicPr>
            <a:picLocks noChangeAspect="1"/>
          </p:cNvPicPr>
          <p:nvPr/>
        </p:nvPicPr>
        <p:blipFill>
          <a:blip r:embed="rId3"/>
          <a:stretch>
            <a:fillRect/>
          </a:stretch>
        </p:blipFill>
        <p:spPr>
          <a:xfrm>
            <a:off x="8050926" y="2454798"/>
            <a:ext cx="284196" cy="284196"/>
          </a:xfrm>
          <a:prstGeom prst="rect">
            <a:avLst/>
          </a:prstGeom>
        </p:spPr>
      </p:pic>
      <p:sp>
        <p:nvSpPr>
          <p:cNvPr id="15" name="Text 10"/>
          <p:cNvSpPr/>
          <p:nvPr/>
        </p:nvSpPr>
        <p:spPr>
          <a:xfrm>
            <a:off x="8503920" y="2377440"/>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Line Chart</a:t>
            </a:r>
            <a:endParaRPr lang="en-US" sz="1150" dirty="0"/>
          </a:p>
        </p:txBody>
      </p:sp>
      <p:sp>
        <p:nvSpPr>
          <p:cNvPr id="16" name="Text 11"/>
          <p:cNvSpPr/>
          <p:nvPr/>
        </p:nvSpPr>
        <p:spPr>
          <a:xfrm>
            <a:off x="8503920" y="2624328"/>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Year-wise financing trend</a:t>
            </a:r>
            <a:endParaRPr lang="en-US" sz="980" dirty="0"/>
          </a:p>
        </p:txBody>
      </p:sp>
      <p:sp>
        <p:nvSpPr>
          <p:cNvPr id="17" name="Shape 12"/>
          <p:cNvSpPr/>
          <p:nvPr/>
        </p:nvSpPr>
        <p:spPr>
          <a:xfrm>
            <a:off x="8001000" y="3026664"/>
            <a:ext cx="384048" cy="384048"/>
          </a:xfrm>
          <a:prstGeom prst="ellipse">
            <a:avLst/>
          </a:prstGeom>
          <a:solidFill>
            <a:srgbClr val="1E2761"/>
          </a:solidFill>
          <a:ln/>
        </p:spPr>
      </p:sp>
      <p:pic>
        <p:nvPicPr>
          <p:cNvPr id="18" name="Image 3" descr="/home/claude/exim_deck/icons/chart_donut.png">    </p:cNvPr>
          <p:cNvPicPr>
            <a:picLocks noChangeAspect="1"/>
          </p:cNvPicPr>
          <p:nvPr/>
        </p:nvPicPr>
        <p:blipFill>
          <a:blip r:embed="rId4"/>
          <a:stretch>
            <a:fillRect/>
          </a:stretch>
        </p:blipFill>
        <p:spPr>
          <a:xfrm>
            <a:off x="8050926" y="3076590"/>
            <a:ext cx="284196" cy="284196"/>
          </a:xfrm>
          <a:prstGeom prst="rect">
            <a:avLst/>
          </a:prstGeom>
        </p:spPr>
      </p:pic>
      <p:sp>
        <p:nvSpPr>
          <p:cNvPr id="19" name="Text 13"/>
          <p:cNvSpPr/>
          <p:nvPr/>
        </p:nvSpPr>
        <p:spPr>
          <a:xfrm>
            <a:off x="8503920" y="2999232"/>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Donut Chart</a:t>
            </a:r>
            <a:endParaRPr lang="en-US" sz="1150" dirty="0"/>
          </a:p>
        </p:txBody>
      </p:sp>
      <p:sp>
        <p:nvSpPr>
          <p:cNvPr id="20" name="Text 14"/>
          <p:cNvSpPr/>
          <p:nvPr/>
        </p:nvSpPr>
        <p:spPr>
          <a:xfrm>
            <a:off x="8503920" y="3246120"/>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Program-wise distribution</a:t>
            </a:r>
            <a:endParaRPr lang="en-US" sz="980" dirty="0"/>
          </a:p>
        </p:txBody>
      </p:sp>
      <p:sp>
        <p:nvSpPr>
          <p:cNvPr id="21" name="Shape 15"/>
          <p:cNvSpPr/>
          <p:nvPr/>
        </p:nvSpPr>
        <p:spPr>
          <a:xfrm>
            <a:off x="8001000" y="3648456"/>
            <a:ext cx="384048" cy="384048"/>
          </a:xfrm>
          <a:prstGeom prst="ellipse">
            <a:avLst/>
          </a:prstGeom>
          <a:solidFill>
            <a:srgbClr val="1E2761"/>
          </a:solidFill>
          <a:ln/>
        </p:spPr>
      </p:sp>
      <p:pic>
        <p:nvPicPr>
          <p:cNvPr id="22" name="Image 4" descr="/home/claude/exim_deck/icons/chart_bar.png">    </p:cNvPr>
          <p:cNvPicPr>
            <a:picLocks noChangeAspect="1"/>
          </p:cNvPicPr>
          <p:nvPr/>
        </p:nvPicPr>
        <p:blipFill>
          <a:blip r:embed="rId5"/>
          <a:stretch>
            <a:fillRect/>
          </a:stretch>
        </p:blipFill>
        <p:spPr>
          <a:xfrm>
            <a:off x="8050926" y="3698382"/>
            <a:ext cx="284196" cy="284196"/>
          </a:xfrm>
          <a:prstGeom prst="rect">
            <a:avLst/>
          </a:prstGeom>
        </p:spPr>
      </p:pic>
      <p:sp>
        <p:nvSpPr>
          <p:cNvPr id="23" name="Text 16"/>
          <p:cNvSpPr/>
          <p:nvPr/>
        </p:nvSpPr>
        <p:spPr>
          <a:xfrm>
            <a:off x="8503920" y="3621024"/>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Bar Chart</a:t>
            </a:r>
            <a:endParaRPr lang="en-US" sz="1150" dirty="0"/>
          </a:p>
        </p:txBody>
      </p:sp>
      <p:sp>
        <p:nvSpPr>
          <p:cNvPr id="24" name="Text 17"/>
          <p:cNvSpPr/>
          <p:nvPr/>
        </p:nvSpPr>
        <p:spPr>
          <a:xfrm>
            <a:off x="8503920" y="3867912"/>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Country-wise financing</a:t>
            </a:r>
            <a:endParaRPr lang="en-US" sz="980" dirty="0"/>
          </a:p>
        </p:txBody>
      </p:sp>
      <p:sp>
        <p:nvSpPr>
          <p:cNvPr id="25" name="Shape 18"/>
          <p:cNvSpPr/>
          <p:nvPr/>
        </p:nvSpPr>
        <p:spPr>
          <a:xfrm>
            <a:off x="8001000" y="4270248"/>
            <a:ext cx="384048" cy="384048"/>
          </a:xfrm>
          <a:prstGeom prst="ellipse">
            <a:avLst/>
          </a:prstGeom>
          <a:solidFill>
            <a:srgbClr val="1E2761"/>
          </a:solidFill>
          <a:ln/>
        </p:spPr>
      </p:sp>
      <p:pic>
        <p:nvPicPr>
          <p:cNvPr id="26" name="Image 5" descr="/home/claude/exim_deck/icons/chart_bar.png">    </p:cNvPr>
          <p:cNvPicPr>
            <a:picLocks noChangeAspect="1"/>
          </p:cNvPicPr>
          <p:nvPr/>
        </p:nvPicPr>
        <p:blipFill>
          <a:blip r:embed="rId6"/>
          <a:stretch>
            <a:fillRect/>
          </a:stretch>
        </p:blipFill>
        <p:spPr>
          <a:xfrm>
            <a:off x="8050926" y="4320174"/>
            <a:ext cx="284196" cy="284196"/>
          </a:xfrm>
          <a:prstGeom prst="rect">
            <a:avLst/>
          </a:prstGeom>
        </p:spPr>
      </p:pic>
      <p:sp>
        <p:nvSpPr>
          <p:cNvPr id="27" name="Text 19"/>
          <p:cNvSpPr/>
          <p:nvPr/>
        </p:nvSpPr>
        <p:spPr>
          <a:xfrm>
            <a:off x="8503920" y="4242816"/>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Bar Chart</a:t>
            </a:r>
            <a:endParaRPr lang="en-US" sz="1150" dirty="0"/>
          </a:p>
        </p:txBody>
      </p:sp>
      <p:sp>
        <p:nvSpPr>
          <p:cNvPr id="28" name="Text 20"/>
          <p:cNvSpPr/>
          <p:nvPr/>
        </p:nvSpPr>
        <p:spPr>
          <a:xfrm>
            <a:off x="8503920" y="4489704"/>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Exporter state analysis</a:t>
            </a:r>
            <a:endParaRPr lang="en-US" sz="980" dirty="0"/>
          </a:p>
        </p:txBody>
      </p:sp>
      <p:sp>
        <p:nvSpPr>
          <p:cNvPr id="29" name="Shape 21"/>
          <p:cNvSpPr/>
          <p:nvPr/>
        </p:nvSpPr>
        <p:spPr>
          <a:xfrm>
            <a:off x="8001000" y="4892040"/>
            <a:ext cx="384048" cy="384048"/>
          </a:xfrm>
          <a:prstGeom prst="ellipse">
            <a:avLst/>
          </a:prstGeom>
          <a:solidFill>
            <a:srgbClr val="1E2761"/>
          </a:solidFill>
          <a:ln/>
        </p:spPr>
      </p:sp>
      <p:pic>
        <p:nvPicPr>
          <p:cNvPr id="30" name="Image 6" descr="/home/claude/exim_deck/icons/map.png">    </p:cNvPr>
          <p:cNvPicPr>
            <a:picLocks noChangeAspect="1"/>
          </p:cNvPicPr>
          <p:nvPr/>
        </p:nvPicPr>
        <p:blipFill>
          <a:blip r:embed="rId7"/>
          <a:stretch>
            <a:fillRect/>
          </a:stretch>
        </p:blipFill>
        <p:spPr>
          <a:xfrm>
            <a:off x="8050926" y="4941966"/>
            <a:ext cx="284196" cy="284196"/>
          </a:xfrm>
          <a:prstGeom prst="rect">
            <a:avLst/>
          </a:prstGeom>
        </p:spPr>
      </p:pic>
      <p:sp>
        <p:nvSpPr>
          <p:cNvPr id="31" name="Text 22"/>
          <p:cNvSpPr/>
          <p:nvPr/>
        </p:nvSpPr>
        <p:spPr>
          <a:xfrm>
            <a:off x="8503920" y="4864608"/>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Filled Map</a:t>
            </a:r>
            <a:endParaRPr lang="en-US" sz="1150" dirty="0"/>
          </a:p>
        </p:txBody>
      </p:sp>
      <p:sp>
        <p:nvSpPr>
          <p:cNvPr id="32" name="Text 23"/>
          <p:cNvSpPr/>
          <p:nvPr/>
        </p:nvSpPr>
        <p:spPr>
          <a:xfrm>
            <a:off x="8503920" y="5111496"/>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Geographical distribution</a:t>
            </a:r>
            <a:endParaRPr lang="en-US" sz="980" dirty="0"/>
          </a:p>
        </p:txBody>
      </p:sp>
      <p:sp>
        <p:nvSpPr>
          <p:cNvPr id="33" name="Shape 24"/>
          <p:cNvSpPr/>
          <p:nvPr/>
        </p:nvSpPr>
        <p:spPr>
          <a:xfrm>
            <a:off x="8001000" y="5513832"/>
            <a:ext cx="384048" cy="384048"/>
          </a:xfrm>
          <a:prstGeom prst="ellipse">
            <a:avLst/>
          </a:prstGeom>
          <a:solidFill>
            <a:srgbClr val="1E2761"/>
          </a:solidFill>
          <a:ln/>
        </p:spPr>
      </p:sp>
      <p:pic>
        <p:nvPicPr>
          <p:cNvPr id="34" name="Image 7" descr="/home/claude/exim_deck/icons/filter.png">    </p:cNvPr>
          <p:cNvPicPr>
            <a:picLocks noChangeAspect="1"/>
          </p:cNvPicPr>
          <p:nvPr/>
        </p:nvPicPr>
        <p:blipFill>
          <a:blip r:embed="rId8"/>
          <a:stretch>
            <a:fillRect/>
          </a:stretch>
        </p:blipFill>
        <p:spPr>
          <a:xfrm>
            <a:off x="8050926" y="5563758"/>
            <a:ext cx="284196" cy="284196"/>
          </a:xfrm>
          <a:prstGeom prst="rect">
            <a:avLst/>
          </a:prstGeom>
        </p:spPr>
      </p:pic>
      <p:sp>
        <p:nvSpPr>
          <p:cNvPr id="35" name="Text 25"/>
          <p:cNvSpPr/>
          <p:nvPr/>
        </p:nvSpPr>
        <p:spPr>
          <a:xfrm>
            <a:off x="8503920" y="5486400"/>
            <a:ext cx="3154680" cy="274320"/>
          </a:xfrm>
          <a:prstGeom prst="rect">
            <a:avLst/>
          </a:prstGeom>
          <a:noFill/>
          <a:ln/>
        </p:spPr>
        <p:txBody>
          <a:bodyPr wrap="square" lIns="0" tIns="0" rIns="0" bIns="0" rtlCol="0" anchor="ctr"/>
          <a:lstStyle/>
          <a:p>
            <a:pPr indent="0" marL="0">
              <a:buNone/>
            </a:pPr>
            <a:r>
              <a:rPr lang="en-US" sz="1150" b="1" dirty="0">
                <a:solidFill>
                  <a:srgbClr val="17191F"/>
                </a:solidFill>
                <a:latin typeface="Calibri" pitchFamily="34" charset="0"/>
                <a:ea typeface="Calibri" pitchFamily="34" charset="-122"/>
                <a:cs typeface="Calibri" pitchFamily="34" charset="-120"/>
              </a:rPr>
              <a:t>Slicers</a:t>
            </a:r>
            <a:endParaRPr lang="en-US" sz="1150" dirty="0"/>
          </a:p>
        </p:txBody>
      </p:sp>
      <p:sp>
        <p:nvSpPr>
          <p:cNvPr id="36" name="Text 26"/>
          <p:cNvSpPr/>
          <p:nvPr/>
        </p:nvSpPr>
        <p:spPr>
          <a:xfrm>
            <a:off x="8503920" y="5733288"/>
            <a:ext cx="3154680" cy="274320"/>
          </a:xfrm>
          <a:prstGeom prst="rect">
            <a:avLst/>
          </a:prstGeom>
          <a:noFill/>
          <a:ln/>
        </p:spPr>
        <p:txBody>
          <a:bodyPr wrap="square" lIns="0" tIns="0" rIns="0" bIns="0" rtlCol="0" anchor="ctr"/>
          <a:lstStyle/>
          <a:p>
            <a:pPr indent="0" marL="0">
              <a:buNone/>
            </a:pPr>
            <a:r>
              <a:rPr lang="en-US" sz="980" dirty="0">
                <a:solidFill>
                  <a:srgbClr val="5A6072"/>
                </a:solidFill>
                <a:latin typeface="Calibri" pitchFamily="34" charset="0"/>
                <a:ea typeface="Calibri" pitchFamily="34" charset="-122"/>
                <a:cs typeface="Calibri" pitchFamily="34" charset="-120"/>
              </a:rPr>
              <a:t>Interactive filtering</a:t>
            </a:r>
            <a:endParaRPr lang="en-US" sz="980" dirty="0"/>
          </a:p>
        </p:txBody>
      </p:sp>
      <p:sp>
        <p:nvSpPr>
          <p:cNvPr id="37" name="Text 2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38" name="Text 2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TEAM &amp; ROLE</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My Contribution to the Project</a:t>
            </a:r>
            <a:endParaRPr lang="en-US" sz="3200" dirty="0"/>
          </a:p>
        </p:txBody>
      </p:sp>
      <p:sp>
        <p:nvSpPr>
          <p:cNvPr id="4" name="Text 2"/>
          <p:cNvSpPr/>
          <p:nvPr/>
        </p:nvSpPr>
        <p:spPr>
          <a:xfrm>
            <a:off x="548640" y="1207008"/>
            <a:ext cx="11064240" cy="365760"/>
          </a:xfrm>
          <a:prstGeom prst="rect">
            <a:avLst/>
          </a:prstGeom>
          <a:noFill/>
          <a:ln/>
        </p:spPr>
        <p:txBody>
          <a:bodyPr wrap="square" lIns="0" tIns="0" rIns="0" bIns="0" rtlCol="0" anchor="ctr"/>
          <a:lstStyle/>
          <a:p>
            <a:pPr indent="0" marL="0">
              <a:buNone/>
            </a:pPr>
            <a:r>
              <a:rPr lang="en-US" sz="1250" i="1" dirty="0">
                <a:solidFill>
                  <a:srgbClr val="5A6072"/>
                </a:solidFill>
                <a:latin typeface="Calibri" pitchFamily="34" charset="0"/>
                <a:ea typeface="Calibri" pitchFamily="34" charset="-122"/>
                <a:cs typeface="Calibri" pitchFamily="34" charset="-120"/>
              </a:rPr>
              <a:t>The project was completed by a two-member team, with work divided equally between both members.</a:t>
            </a:r>
            <a:endParaRPr lang="en-US" sz="1250" dirty="0"/>
          </a:p>
        </p:txBody>
      </p:sp>
      <p:sp>
        <p:nvSpPr>
          <p:cNvPr id="5" name="Shape 3"/>
          <p:cNvSpPr/>
          <p:nvPr/>
        </p:nvSpPr>
        <p:spPr>
          <a:xfrm>
            <a:off x="548640" y="1737360"/>
            <a:ext cx="5349240" cy="4297680"/>
          </a:xfrm>
          <a:prstGeom prst="roundRect">
            <a:avLst>
              <a:gd name="adj" fmla="val 1702"/>
            </a:avLst>
          </a:prstGeom>
          <a:solidFill>
            <a:srgbClr val="1E2761"/>
          </a:solidFill>
          <a:ln/>
        </p:spPr>
      </p:sp>
      <p:sp>
        <p:nvSpPr>
          <p:cNvPr id="6" name="Shape 4"/>
          <p:cNvSpPr/>
          <p:nvPr/>
        </p:nvSpPr>
        <p:spPr>
          <a:xfrm>
            <a:off x="822960" y="2011680"/>
            <a:ext cx="548640" cy="548640"/>
          </a:xfrm>
          <a:prstGeom prst="ellipse">
            <a:avLst/>
          </a:prstGeom>
          <a:solidFill>
            <a:srgbClr val="2A337A"/>
          </a:solidFill>
          <a:ln/>
        </p:spPr>
      </p:sp>
      <p:pic>
        <p:nvPicPr>
          <p:cNvPr id="7" name="Image 0" descr="/home/claude/exim_deck/icons/code.png">    </p:cNvPr>
          <p:cNvPicPr>
            <a:picLocks noChangeAspect="1"/>
          </p:cNvPicPr>
          <p:nvPr/>
        </p:nvPicPr>
        <p:blipFill>
          <a:blip r:embed="rId1"/>
          <a:stretch>
            <a:fillRect/>
          </a:stretch>
        </p:blipFill>
        <p:spPr>
          <a:xfrm>
            <a:off x="894283" y="2083003"/>
            <a:ext cx="405994" cy="405994"/>
          </a:xfrm>
          <a:prstGeom prst="rect">
            <a:avLst/>
          </a:prstGeom>
        </p:spPr>
      </p:pic>
      <p:sp>
        <p:nvSpPr>
          <p:cNvPr id="8" name="Text 5"/>
          <p:cNvSpPr/>
          <p:nvPr/>
        </p:nvSpPr>
        <p:spPr>
          <a:xfrm>
            <a:off x="1508760" y="2048256"/>
            <a:ext cx="41605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My Contribution</a:t>
            </a:r>
            <a:endParaRPr lang="en-US" sz="1700" dirty="0"/>
          </a:p>
        </p:txBody>
      </p:sp>
      <p:sp>
        <p:nvSpPr>
          <p:cNvPr id="9" name="Text 6"/>
          <p:cNvSpPr/>
          <p:nvPr/>
        </p:nvSpPr>
        <p:spPr>
          <a:xfrm>
            <a:off x="841248" y="2743200"/>
            <a:ext cx="4764024" cy="310896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Imported the Excel dataset into Power BI</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Data cleaning &amp; transformation via Power Query</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Created DAX measures</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Developed KPI cards</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Created and formatted visualizations</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Added slicers and interactive filtering</a:t>
            </a:r>
            <a:endParaRPr lang="en-US" sz="1200" dirty="0"/>
          </a:p>
          <a:p>
            <a:pPr marL="342900" indent="-342900">
              <a:lnSpc>
                <a:spcPct val="110000"/>
              </a:lnSpc>
              <a:spcAft>
                <a:spcPts val="900"/>
              </a:spcAft>
              <a:buSzPct val="100000"/>
              <a:buChar char="•"/>
            </a:pPr>
            <a:r>
              <a:rPr lang="en-US" sz="1200" dirty="0">
                <a:solidFill>
                  <a:srgbClr val="CADCFC"/>
                </a:solidFill>
                <a:latin typeface="Calibri" pitchFamily="34" charset="0"/>
                <a:ea typeface="Calibri" pitchFamily="34" charset="-122"/>
                <a:cs typeface="Calibri" pitchFamily="34" charset="-120"/>
              </a:rPr>
              <a:t>Worked on dashboard layout and formatting</a:t>
            </a:r>
            <a:endParaRPr lang="en-US" sz="1200" dirty="0"/>
          </a:p>
        </p:txBody>
      </p:sp>
      <p:sp>
        <p:nvSpPr>
          <p:cNvPr id="10" name="Shape 7"/>
          <p:cNvSpPr/>
          <p:nvPr/>
        </p:nvSpPr>
        <p:spPr>
          <a:xfrm>
            <a:off x="6263640" y="1737360"/>
            <a:ext cx="5349240" cy="4297680"/>
          </a:xfrm>
          <a:prstGeom prst="roundRect">
            <a:avLst>
              <a:gd name="adj" fmla="val 1702"/>
            </a:avLst>
          </a:prstGeom>
          <a:solidFill>
            <a:srgbClr val="F4F6FC"/>
          </a:solidFill>
          <a:ln w="12700">
            <a:solidFill>
              <a:srgbClr val="DDE3F2"/>
            </a:solidFill>
            <a:prstDash val="solid"/>
          </a:ln>
        </p:spPr>
      </p:sp>
      <p:sp>
        <p:nvSpPr>
          <p:cNvPr id="11" name="Shape 8"/>
          <p:cNvSpPr/>
          <p:nvPr/>
        </p:nvSpPr>
        <p:spPr>
          <a:xfrm>
            <a:off x="6537960" y="2011680"/>
            <a:ext cx="548640" cy="548640"/>
          </a:xfrm>
          <a:prstGeom prst="ellipse">
            <a:avLst/>
          </a:prstGeom>
          <a:solidFill>
            <a:srgbClr val="1E2761"/>
          </a:solidFill>
          <a:ln/>
        </p:spPr>
      </p:sp>
      <p:pic>
        <p:nvPicPr>
          <p:cNvPr id="12" name="Image 1" descr="/home/claude/exim_deck/icons/users.png">    </p:cNvPr>
          <p:cNvPicPr>
            <a:picLocks noChangeAspect="1"/>
          </p:cNvPicPr>
          <p:nvPr/>
        </p:nvPicPr>
        <p:blipFill>
          <a:blip r:embed="rId2"/>
          <a:stretch>
            <a:fillRect/>
          </a:stretch>
        </p:blipFill>
        <p:spPr>
          <a:xfrm>
            <a:off x="6609283" y="2083003"/>
            <a:ext cx="405994" cy="405994"/>
          </a:xfrm>
          <a:prstGeom prst="rect">
            <a:avLst/>
          </a:prstGeom>
        </p:spPr>
      </p:pic>
      <p:sp>
        <p:nvSpPr>
          <p:cNvPr id="13" name="Text 9"/>
          <p:cNvSpPr/>
          <p:nvPr/>
        </p:nvSpPr>
        <p:spPr>
          <a:xfrm>
            <a:off x="7223760" y="2048256"/>
            <a:ext cx="4160520" cy="457200"/>
          </a:xfrm>
          <a:prstGeom prst="rect">
            <a:avLst/>
          </a:prstGeom>
          <a:noFill/>
          <a:ln/>
        </p:spPr>
        <p:txBody>
          <a:bodyPr wrap="square" lIns="0" tIns="0" rIns="0" bIns="0" rtlCol="0" anchor="ctr"/>
          <a:lstStyle/>
          <a:p>
            <a:pPr indent="0" marL="0">
              <a:buNone/>
            </a:pPr>
            <a:r>
              <a:rPr lang="en-US" sz="1700" b="1" dirty="0">
                <a:solidFill>
                  <a:srgbClr val="17191F"/>
                </a:solidFill>
                <a:latin typeface="Cambria" pitchFamily="34" charset="0"/>
                <a:ea typeface="Cambria" pitchFamily="34" charset="-122"/>
                <a:cs typeface="Cambria" pitchFamily="34" charset="-120"/>
              </a:rPr>
              <a:t>Teammate's Contribution</a:t>
            </a:r>
            <a:endParaRPr lang="en-US" sz="1700" dirty="0"/>
          </a:p>
        </p:txBody>
      </p:sp>
      <p:sp>
        <p:nvSpPr>
          <p:cNvPr id="14" name="Text 10"/>
          <p:cNvSpPr/>
          <p:nvPr/>
        </p:nvSpPr>
        <p:spPr>
          <a:xfrm>
            <a:off x="6556248" y="2743200"/>
            <a:ext cx="4764024" cy="310896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Understanding dataset &amp; business requirements</a:t>
            </a:r>
            <a:endParaRPr lang="en-US" sz="1200" dirty="0"/>
          </a:p>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Identifying important KPIs and insights</a:t>
            </a:r>
            <a:endParaRPr lang="en-US" sz="1200" dirty="0"/>
          </a:p>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Data validation</a:t>
            </a:r>
            <a:endParaRPr lang="en-US" sz="1200" dirty="0"/>
          </a:p>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Visualization planning</a:t>
            </a:r>
            <a:endParaRPr lang="en-US" sz="1200" dirty="0"/>
          </a:p>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Dashboard testing</a:t>
            </a:r>
            <a:endParaRPr lang="en-US" sz="1200" dirty="0"/>
          </a:p>
          <a:p>
            <a:pPr marL="342900" indent="-342900">
              <a:lnSpc>
                <a:spcPct val="110000"/>
              </a:lnSpc>
              <a:spcAft>
                <a:spcPts val="900"/>
              </a:spcAft>
              <a:buSzPct val="100000"/>
              <a:buChar char="•"/>
            </a:pPr>
            <a:r>
              <a:rPr lang="en-US" sz="1200" dirty="0">
                <a:solidFill>
                  <a:srgbClr val="17191F"/>
                </a:solidFill>
                <a:latin typeface="Calibri" pitchFamily="34" charset="0"/>
                <a:ea typeface="Calibri" pitchFamily="34" charset="-122"/>
                <a:cs typeface="Calibri" pitchFamily="34" charset="-120"/>
              </a:rPr>
              <a:t>Documentation and presentation preparation</a:t>
            </a:r>
            <a:endParaRPr lang="en-US" sz="1200" dirty="0"/>
          </a:p>
        </p:txBody>
      </p:sp>
      <p:sp>
        <p:nvSpPr>
          <p:cNvPr id="15" name="Text 11"/>
          <p:cNvSpPr/>
          <p:nvPr/>
        </p:nvSpPr>
        <p:spPr>
          <a:xfrm>
            <a:off x="548640" y="6163056"/>
            <a:ext cx="11064240" cy="320040"/>
          </a:xfrm>
          <a:prstGeom prst="rect">
            <a:avLst/>
          </a:prstGeom>
          <a:noFill/>
          <a:ln/>
        </p:spPr>
        <p:txBody>
          <a:bodyPr wrap="square" lIns="0" tIns="0" rIns="0" bIns="0" rtlCol="0" anchor="ctr"/>
          <a:lstStyle/>
          <a:p>
            <a:pPr algn="ctr" indent="0" marL="0">
              <a:buNone/>
            </a:pPr>
            <a:r>
              <a:rPr lang="en-US" sz="1150" i="1" dirty="0">
                <a:solidFill>
                  <a:srgbClr val="5A6072"/>
                </a:solidFill>
                <a:latin typeface="Calibri" pitchFamily="34" charset="0"/>
                <a:ea typeface="Calibri" pitchFamily="34" charset="-122"/>
                <a:cs typeface="Calibri" pitchFamily="34" charset="-120"/>
              </a:rPr>
              <a:t>Both members contributed equally and collaborated during the final review and testing.</a:t>
            </a:r>
            <a:endParaRPr lang="en-US" sz="1150" dirty="0"/>
          </a:p>
        </p:txBody>
      </p:sp>
      <p:sp>
        <p:nvSpPr>
          <p:cNvPr id="16"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17" name="Text 1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ANALYTICAL VALUE</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Key Insights from the Project</a:t>
            </a:r>
            <a:endParaRPr lang="en-US" sz="3200" dirty="0"/>
          </a:p>
        </p:txBody>
      </p:sp>
      <p:sp>
        <p:nvSpPr>
          <p:cNvPr id="4" name="Text 2"/>
          <p:cNvSpPr/>
          <p:nvPr/>
        </p:nvSpPr>
        <p:spPr>
          <a:xfrm>
            <a:off x="548640" y="1234440"/>
            <a:ext cx="11064240" cy="365760"/>
          </a:xfrm>
          <a:prstGeom prst="rect">
            <a:avLst/>
          </a:prstGeom>
          <a:noFill/>
          <a:ln/>
        </p:spPr>
        <p:txBody>
          <a:bodyPr wrap="square" lIns="0" tIns="0" rIns="0" bIns="0" rtlCol="0" anchor="ctr"/>
          <a:lstStyle/>
          <a:p>
            <a:pPr indent="0" marL="0">
              <a:buNone/>
            </a:pPr>
            <a:r>
              <a:rPr lang="en-US" sz="1300" dirty="0">
                <a:solidFill>
                  <a:srgbClr val="17191F"/>
                </a:solidFill>
                <a:latin typeface="Calibri" pitchFamily="34" charset="0"/>
                <a:ea typeface="Calibri" pitchFamily="34" charset="-122"/>
                <a:cs typeface="Calibri" pitchFamily="34" charset="-120"/>
              </a:rPr>
              <a:t>The dashboard is designed to help stakeholders analyze the following dimensions of EXIM Bank financing:</a:t>
            </a:r>
            <a:endParaRPr lang="en-US" sz="1300" dirty="0"/>
          </a:p>
        </p:txBody>
      </p:sp>
      <p:sp>
        <p:nvSpPr>
          <p:cNvPr id="5" name="Shape 3"/>
          <p:cNvSpPr/>
          <p:nvPr/>
        </p:nvSpPr>
        <p:spPr>
          <a:xfrm>
            <a:off x="548640" y="1783080"/>
            <a:ext cx="3517392" cy="1048512"/>
          </a:xfrm>
          <a:prstGeom prst="roundRect">
            <a:avLst>
              <a:gd name="adj" fmla="val 6105"/>
            </a:avLst>
          </a:prstGeom>
          <a:solidFill>
            <a:srgbClr val="F4F6FC"/>
          </a:solidFill>
          <a:ln w="12700">
            <a:solidFill>
              <a:srgbClr val="DDE3F2"/>
            </a:solidFill>
            <a:prstDash val="solid"/>
          </a:ln>
        </p:spPr>
      </p:sp>
      <p:sp>
        <p:nvSpPr>
          <p:cNvPr id="6" name="Shape 4"/>
          <p:cNvSpPr/>
          <p:nvPr/>
        </p:nvSpPr>
        <p:spPr>
          <a:xfrm>
            <a:off x="731520" y="2225040"/>
            <a:ext cx="164592" cy="164592"/>
          </a:xfrm>
          <a:prstGeom prst="ellipse">
            <a:avLst/>
          </a:prstGeom>
          <a:solidFill>
            <a:srgbClr val="1E2761"/>
          </a:solidFill>
          <a:ln/>
        </p:spPr>
      </p:sp>
      <p:sp>
        <p:nvSpPr>
          <p:cNvPr id="7" name="Text 5"/>
          <p:cNvSpPr/>
          <p:nvPr/>
        </p:nvSpPr>
        <p:spPr>
          <a:xfrm>
            <a:off x="1024128" y="1783080"/>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Total authorized financing</a:t>
            </a:r>
            <a:endParaRPr lang="en-US" sz="1180" dirty="0"/>
          </a:p>
        </p:txBody>
      </p:sp>
      <p:sp>
        <p:nvSpPr>
          <p:cNvPr id="8" name="Shape 6"/>
          <p:cNvSpPr/>
          <p:nvPr/>
        </p:nvSpPr>
        <p:spPr>
          <a:xfrm>
            <a:off x="4322064" y="1783080"/>
            <a:ext cx="3517392" cy="1048512"/>
          </a:xfrm>
          <a:prstGeom prst="roundRect">
            <a:avLst>
              <a:gd name="adj" fmla="val 6105"/>
            </a:avLst>
          </a:prstGeom>
          <a:solidFill>
            <a:srgbClr val="F4F6FC"/>
          </a:solidFill>
          <a:ln w="12700">
            <a:solidFill>
              <a:srgbClr val="DDE3F2"/>
            </a:solidFill>
            <a:prstDash val="solid"/>
          </a:ln>
        </p:spPr>
      </p:sp>
      <p:sp>
        <p:nvSpPr>
          <p:cNvPr id="9" name="Shape 7"/>
          <p:cNvSpPr/>
          <p:nvPr/>
        </p:nvSpPr>
        <p:spPr>
          <a:xfrm>
            <a:off x="4504944" y="2225040"/>
            <a:ext cx="164592" cy="164592"/>
          </a:xfrm>
          <a:prstGeom prst="ellipse">
            <a:avLst/>
          </a:prstGeom>
          <a:solidFill>
            <a:srgbClr val="1E2761"/>
          </a:solidFill>
          <a:ln/>
        </p:spPr>
      </p:sp>
      <p:sp>
        <p:nvSpPr>
          <p:cNvPr id="10" name="Text 8"/>
          <p:cNvSpPr/>
          <p:nvPr/>
        </p:nvSpPr>
        <p:spPr>
          <a:xfrm>
            <a:off x="4797552" y="1783080"/>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Total disbursed financing</a:t>
            </a:r>
            <a:endParaRPr lang="en-US" sz="1180" dirty="0"/>
          </a:p>
        </p:txBody>
      </p:sp>
      <p:sp>
        <p:nvSpPr>
          <p:cNvPr id="11" name="Shape 9"/>
          <p:cNvSpPr/>
          <p:nvPr/>
        </p:nvSpPr>
        <p:spPr>
          <a:xfrm>
            <a:off x="8095488" y="1783080"/>
            <a:ext cx="3517392" cy="1048512"/>
          </a:xfrm>
          <a:prstGeom prst="roundRect">
            <a:avLst>
              <a:gd name="adj" fmla="val 6105"/>
            </a:avLst>
          </a:prstGeom>
          <a:solidFill>
            <a:srgbClr val="F4F6FC"/>
          </a:solidFill>
          <a:ln w="12700">
            <a:solidFill>
              <a:srgbClr val="DDE3F2"/>
            </a:solidFill>
            <a:prstDash val="solid"/>
          </a:ln>
        </p:spPr>
      </p:sp>
      <p:sp>
        <p:nvSpPr>
          <p:cNvPr id="12" name="Shape 10"/>
          <p:cNvSpPr/>
          <p:nvPr/>
        </p:nvSpPr>
        <p:spPr>
          <a:xfrm>
            <a:off x="8278368" y="2225040"/>
            <a:ext cx="164592" cy="164592"/>
          </a:xfrm>
          <a:prstGeom prst="ellipse">
            <a:avLst/>
          </a:prstGeom>
          <a:solidFill>
            <a:srgbClr val="1E2761"/>
          </a:solidFill>
          <a:ln/>
        </p:spPr>
      </p:sp>
      <p:sp>
        <p:nvSpPr>
          <p:cNvPr id="13" name="Text 11"/>
          <p:cNvSpPr/>
          <p:nvPr/>
        </p:nvSpPr>
        <p:spPr>
          <a:xfrm>
            <a:off x="8570976" y="1783080"/>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Number of financing deals</a:t>
            </a:r>
            <a:endParaRPr lang="en-US" sz="1180" dirty="0"/>
          </a:p>
        </p:txBody>
      </p:sp>
      <p:sp>
        <p:nvSpPr>
          <p:cNvPr id="14" name="Shape 12"/>
          <p:cNvSpPr/>
          <p:nvPr/>
        </p:nvSpPr>
        <p:spPr>
          <a:xfrm>
            <a:off x="548640" y="3087624"/>
            <a:ext cx="3517392" cy="1048512"/>
          </a:xfrm>
          <a:prstGeom prst="roundRect">
            <a:avLst>
              <a:gd name="adj" fmla="val 6105"/>
            </a:avLst>
          </a:prstGeom>
          <a:solidFill>
            <a:srgbClr val="F4F6FC"/>
          </a:solidFill>
          <a:ln w="12700">
            <a:solidFill>
              <a:srgbClr val="DDE3F2"/>
            </a:solidFill>
            <a:prstDash val="solid"/>
          </a:ln>
        </p:spPr>
      </p:sp>
      <p:sp>
        <p:nvSpPr>
          <p:cNvPr id="15" name="Shape 13"/>
          <p:cNvSpPr/>
          <p:nvPr/>
        </p:nvSpPr>
        <p:spPr>
          <a:xfrm>
            <a:off x="731520" y="3529584"/>
            <a:ext cx="164592" cy="164592"/>
          </a:xfrm>
          <a:prstGeom prst="ellipse">
            <a:avLst/>
          </a:prstGeom>
          <a:solidFill>
            <a:srgbClr val="1E2761"/>
          </a:solidFill>
          <a:ln/>
        </p:spPr>
      </p:sp>
      <p:sp>
        <p:nvSpPr>
          <p:cNvPr id="16" name="Text 14"/>
          <p:cNvSpPr/>
          <p:nvPr/>
        </p:nvSpPr>
        <p:spPr>
          <a:xfrm>
            <a:off x="1024128" y="3087624"/>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Financing trends across fiscal years</a:t>
            </a:r>
            <a:endParaRPr lang="en-US" sz="1180" dirty="0"/>
          </a:p>
        </p:txBody>
      </p:sp>
      <p:sp>
        <p:nvSpPr>
          <p:cNvPr id="17" name="Shape 15"/>
          <p:cNvSpPr/>
          <p:nvPr/>
        </p:nvSpPr>
        <p:spPr>
          <a:xfrm>
            <a:off x="4322064" y="3087624"/>
            <a:ext cx="3517392" cy="1048512"/>
          </a:xfrm>
          <a:prstGeom prst="roundRect">
            <a:avLst>
              <a:gd name="adj" fmla="val 6105"/>
            </a:avLst>
          </a:prstGeom>
          <a:solidFill>
            <a:srgbClr val="F4F6FC"/>
          </a:solidFill>
          <a:ln w="12700">
            <a:solidFill>
              <a:srgbClr val="DDE3F2"/>
            </a:solidFill>
            <a:prstDash val="solid"/>
          </a:ln>
        </p:spPr>
      </p:sp>
      <p:sp>
        <p:nvSpPr>
          <p:cNvPr id="18" name="Shape 16"/>
          <p:cNvSpPr/>
          <p:nvPr/>
        </p:nvSpPr>
        <p:spPr>
          <a:xfrm>
            <a:off x="4504944" y="3529584"/>
            <a:ext cx="164592" cy="164592"/>
          </a:xfrm>
          <a:prstGeom prst="ellipse">
            <a:avLst/>
          </a:prstGeom>
          <a:solidFill>
            <a:srgbClr val="1E2761"/>
          </a:solidFill>
          <a:ln/>
        </p:spPr>
      </p:sp>
      <p:sp>
        <p:nvSpPr>
          <p:cNvPr id="19" name="Text 17"/>
          <p:cNvSpPr/>
          <p:nvPr/>
        </p:nvSpPr>
        <p:spPr>
          <a:xfrm>
            <a:off x="4797552" y="3087624"/>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Program-wise financing distribution</a:t>
            </a:r>
            <a:endParaRPr lang="en-US" sz="1180" dirty="0"/>
          </a:p>
        </p:txBody>
      </p:sp>
      <p:sp>
        <p:nvSpPr>
          <p:cNvPr id="20" name="Shape 18"/>
          <p:cNvSpPr/>
          <p:nvPr/>
        </p:nvSpPr>
        <p:spPr>
          <a:xfrm>
            <a:off x="8095488" y="3087624"/>
            <a:ext cx="3517392" cy="1048512"/>
          </a:xfrm>
          <a:prstGeom prst="roundRect">
            <a:avLst>
              <a:gd name="adj" fmla="val 6105"/>
            </a:avLst>
          </a:prstGeom>
          <a:solidFill>
            <a:srgbClr val="F4F6FC"/>
          </a:solidFill>
          <a:ln w="12700">
            <a:solidFill>
              <a:srgbClr val="DDE3F2"/>
            </a:solidFill>
            <a:prstDash val="solid"/>
          </a:ln>
        </p:spPr>
      </p:sp>
      <p:sp>
        <p:nvSpPr>
          <p:cNvPr id="21" name="Shape 19"/>
          <p:cNvSpPr/>
          <p:nvPr/>
        </p:nvSpPr>
        <p:spPr>
          <a:xfrm>
            <a:off x="8278368" y="3529584"/>
            <a:ext cx="164592" cy="164592"/>
          </a:xfrm>
          <a:prstGeom prst="ellipse">
            <a:avLst/>
          </a:prstGeom>
          <a:solidFill>
            <a:srgbClr val="1E2761"/>
          </a:solidFill>
          <a:ln/>
        </p:spPr>
      </p:sp>
      <p:sp>
        <p:nvSpPr>
          <p:cNvPr id="22" name="Text 20"/>
          <p:cNvSpPr/>
          <p:nvPr/>
        </p:nvSpPr>
        <p:spPr>
          <a:xfrm>
            <a:off x="8570976" y="3087624"/>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Country-wise financing</a:t>
            </a:r>
            <a:endParaRPr lang="en-US" sz="1180" dirty="0"/>
          </a:p>
        </p:txBody>
      </p:sp>
      <p:sp>
        <p:nvSpPr>
          <p:cNvPr id="23" name="Shape 21"/>
          <p:cNvSpPr/>
          <p:nvPr/>
        </p:nvSpPr>
        <p:spPr>
          <a:xfrm>
            <a:off x="548640" y="4392168"/>
            <a:ext cx="3517392" cy="1048512"/>
          </a:xfrm>
          <a:prstGeom prst="roundRect">
            <a:avLst>
              <a:gd name="adj" fmla="val 6105"/>
            </a:avLst>
          </a:prstGeom>
          <a:solidFill>
            <a:srgbClr val="F4F6FC"/>
          </a:solidFill>
          <a:ln w="12700">
            <a:solidFill>
              <a:srgbClr val="DDE3F2"/>
            </a:solidFill>
            <a:prstDash val="solid"/>
          </a:ln>
        </p:spPr>
      </p:sp>
      <p:sp>
        <p:nvSpPr>
          <p:cNvPr id="24" name="Shape 22"/>
          <p:cNvSpPr/>
          <p:nvPr/>
        </p:nvSpPr>
        <p:spPr>
          <a:xfrm>
            <a:off x="731520" y="4834128"/>
            <a:ext cx="164592" cy="164592"/>
          </a:xfrm>
          <a:prstGeom prst="ellipse">
            <a:avLst/>
          </a:prstGeom>
          <a:solidFill>
            <a:srgbClr val="1E2761"/>
          </a:solidFill>
          <a:ln/>
        </p:spPr>
      </p:sp>
      <p:sp>
        <p:nvSpPr>
          <p:cNvPr id="25" name="Text 23"/>
          <p:cNvSpPr/>
          <p:nvPr/>
        </p:nvSpPr>
        <p:spPr>
          <a:xfrm>
            <a:off x="1024128" y="4392168"/>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Exporter state performance</a:t>
            </a:r>
            <a:endParaRPr lang="en-US" sz="1180" dirty="0"/>
          </a:p>
        </p:txBody>
      </p:sp>
      <p:sp>
        <p:nvSpPr>
          <p:cNvPr id="26" name="Shape 24"/>
          <p:cNvSpPr/>
          <p:nvPr/>
        </p:nvSpPr>
        <p:spPr>
          <a:xfrm>
            <a:off x="4322064" y="4392168"/>
            <a:ext cx="3517392" cy="1048512"/>
          </a:xfrm>
          <a:prstGeom prst="roundRect">
            <a:avLst>
              <a:gd name="adj" fmla="val 6105"/>
            </a:avLst>
          </a:prstGeom>
          <a:solidFill>
            <a:srgbClr val="F4F6FC"/>
          </a:solidFill>
          <a:ln w="12700">
            <a:solidFill>
              <a:srgbClr val="DDE3F2"/>
            </a:solidFill>
            <a:prstDash val="solid"/>
          </a:ln>
        </p:spPr>
      </p:sp>
      <p:sp>
        <p:nvSpPr>
          <p:cNvPr id="27" name="Shape 25"/>
          <p:cNvSpPr/>
          <p:nvPr/>
        </p:nvSpPr>
        <p:spPr>
          <a:xfrm>
            <a:off x="4504944" y="4834128"/>
            <a:ext cx="164592" cy="164592"/>
          </a:xfrm>
          <a:prstGeom prst="ellipse">
            <a:avLst/>
          </a:prstGeom>
          <a:solidFill>
            <a:srgbClr val="1E2761"/>
          </a:solidFill>
          <a:ln/>
        </p:spPr>
      </p:sp>
      <p:sp>
        <p:nvSpPr>
          <p:cNvPr id="28" name="Text 26"/>
          <p:cNvSpPr/>
          <p:nvPr/>
        </p:nvSpPr>
        <p:spPr>
          <a:xfrm>
            <a:off x="4797552" y="4392168"/>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Small-business financing</a:t>
            </a:r>
            <a:endParaRPr lang="en-US" sz="1180" dirty="0"/>
          </a:p>
        </p:txBody>
      </p:sp>
      <p:sp>
        <p:nvSpPr>
          <p:cNvPr id="29" name="Shape 27"/>
          <p:cNvSpPr/>
          <p:nvPr/>
        </p:nvSpPr>
        <p:spPr>
          <a:xfrm>
            <a:off x="8095488" y="4392168"/>
            <a:ext cx="3517392" cy="1048512"/>
          </a:xfrm>
          <a:prstGeom prst="roundRect">
            <a:avLst>
              <a:gd name="adj" fmla="val 6105"/>
            </a:avLst>
          </a:prstGeom>
          <a:solidFill>
            <a:srgbClr val="F4F6FC"/>
          </a:solidFill>
          <a:ln w="12700">
            <a:solidFill>
              <a:srgbClr val="DDE3F2"/>
            </a:solidFill>
            <a:prstDash val="solid"/>
          </a:ln>
        </p:spPr>
      </p:sp>
      <p:sp>
        <p:nvSpPr>
          <p:cNvPr id="30" name="Shape 28"/>
          <p:cNvSpPr/>
          <p:nvPr/>
        </p:nvSpPr>
        <p:spPr>
          <a:xfrm>
            <a:off x="8278368" y="4834128"/>
            <a:ext cx="164592" cy="164592"/>
          </a:xfrm>
          <a:prstGeom prst="ellipse">
            <a:avLst/>
          </a:prstGeom>
          <a:solidFill>
            <a:srgbClr val="1E2761"/>
          </a:solidFill>
          <a:ln/>
        </p:spPr>
      </p:sp>
      <p:sp>
        <p:nvSpPr>
          <p:cNvPr id="31" name="Text 29"/>
          <p:cNvSpPr/>
          <p:nvPr/>
        </p:nvSpPr>
        <p:spPr>
          <a:xfrm>
            <a:off x="8570976" y="4392168"/>
            <a:ext cx="2877312" cy="1048512"/>
          </a:xfrm>
          <a:prstGeom prst="rect">
            <a:avLst/>
          </a:prstGeom>
          <a:noFill/>
          <a:ln/>
        </p:spPr>
        <p:txBody>
          <a:bodyPr wrap="square" lIns="0" tIns="0" rIns="0" bIns="0" rtlCol="0" anchor="ctr"/>
          <a:lstStyle/>
          <a:p>
            <a:pPr indent="0" marL="0">
              <a:lnSpc>
                <a:spcPct val="105000"/>
              </a:lnSpc>
              <a:buNone/>
            </a:pPr>
            <a:r>
              <a:rPr lang="en-US" sz="1180" dirty="0">
                <a:solidFill>
                  <a:srgbClr val="17191F"/>
                </a:solidFill>
                <a:latin typeface="Calibri" pitchFamily="34" charset="0"/>
                <a:ea typeface="Calibri" pitchFamily="34" charset="-122"/>
                <a:cs typeface="Calibri" pitchFamily="34" charset="-120"/>
              </a:rPr>
              <a:t>Geographical distribution of EXIM financing</a:t>
            </a:r>
            <a:endParaRPr lang="en-US" sz="1180" dirty="0"/>
          </a:p>
        </p:txBody>
      </p:sp>
      <p:sp>
        <p:nvSpPr>
          <p:cNvPr id="32" name="Shape 30"/>
          <p:cNvSpPr/>
          <p:nvPr/>
        </p:nvSpPr>
        <p:spPr>
          <a:xfrm>
            <a:off x="548640" y="5623560"/>
            <a:ext cx="11064240" cy="566928"/>
          </a:xfrm>
          <a:prstGeom prst="roundRect">
            <a:avLst>
              <a:gd name="adj" fmla="val 9677"/>
            </a:avLst>
          </a:prstGeom>
          <a:solidFill>
            <a:srgbClr val="FFF6DA"/>
          </a:solidFill>
          <a:ln w="12700">
            <a:solidFill>
              <a:srgbClr val="EBD98A"/>
            </a:solidFill>
            <a:prstDash val="solid"/>
          </a:ln>
        </p:spPr>
      </p:sp>
      <p:sp>
        <p:nvSpPr>
          <p:cNvPr id="33" name="Text 31"/>
          <p:cNvSpPr/>
          <p:nvPr/>
        </p:nvSpPr>
        <p:spPr>
          <a:xfrm>
            <a:off x="777240" y="5623560"/>
            <a:ext cx="10607040" cy="566928"/>
          </a:xfrm>
          <a:prstGeom prst="rect">
            <a:avLst/>
          </a:prstGeom>
          <a:noFill/>
          <a:ln/>
        </p:spPr>
        <p:txBody>
          <a:bodyPr wrap="square" lIns="0" tIns="0" rIns="0" bIns="0" rtlCol="0" anchor="ctr"/>
          <a:lstStyle/>
          <a:p>
            <a:pPr indent="0" marL="0">
              <a:buNone/>
            </a:pPr>
            <a:r>
              <a:rPr lang="en-US" sz="1050" i="1" dirty="0">
                <a:solidFill>
                  <a:srgbClr val="6B5A1E"/>
                </a:solidFill>
                <a:latin typeface="Calibri" pitchFamily="34" charset="0"/>
                <a:ea typeface="Calibri" pitchFamily="34" charset="-122"/>
                <a:cs typeface="Calibri" pitchFamily="34" charset="-120"/>
              </a:rPr>
              <a:t>Note: Specific numerical findings are drawn only from the actual project dashboard and are not invented for this presentation.</a:t>
            </a:r>
            <a:endParaRPr lang="en-US" sz="1050" dirty="0"/>
          </a:p>
        </p:txBody>
      </p:sp>
      <p:sp>
        <p:nvSpPr>
          <p:cNvPr id="34" name="Text 3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35" name="Text 3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REFLECTION</a:t>
            </a:r>
            <a:endParaRPr lang="en-US" sz="1200" dirty="0"/>
          </a:p>
        </p:txBody>
      </p:sp>
      <p:sp>
        <p:nvSpPr>
          <p:cNvPr id="3" name="Text 1"/>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17191F"/>
                </a:solidFill>
                <a:latin typeface="Cambria" pitchFamily="34" charset="0"/>
                <a:ea typeface="Cambria" pitchFamily="34" charset="-122"/>
                <a:cs typeface="Cambria" pitchFamily="34" charset="-120"/>
              </a:rPr>
              <a:t>My Key Learnings</a:t>
            </a:r>
            <a:endParaRPr lang="en-US" sz="3200" dirty="0"/>
          </a:p>
        </p:txBody>
      </p:sp>
      <p:sp>
        <p:nvSpPr>
          <p:cNvPr id="4" name="Shape 2"/>
          <p:cNvSpPr/>
          <p:nvPr/>
        </p:nvSpPr>
        <p:spPr>
          <a:xfrm>
            <a:off x="548640" y="1371600"/>
            <a:ext cx="3584448" cy="3429000"/>
          </a:xfrm>
          <a:prstGeom prst="roundRect">
            <a:avLst>
              <a:gd name="adj" fmla="val 2133"/>
            </a:avLst>
          </a:prstGeom>
          <a:solidFill>
            <a:srgbClr val="F4F6FC"/>
          </a:solidFill>
          <a:ln w="12700">
            <a:solidFill>
              <a:srgbClr val="DDE3F2"/>
            </a:solidFill>
            <a:prstDash val="solid"/>
          </a:ln>
        </p:spPr>
      </p:sp>
      <p:sp>
        <p:nvSpPr>
          <p:cNvPr id="5" name="Shape 3"/>
          <p:cNvSpPr/>
          <p:nvPr/>
        </p:nvSpPr>
        <p:spPr>
          <a:xfrm>
            <a:off x="2020824" y="1609344"/>
            <a:ext cx="640080" cy="640080"/>
          </a:xfrm>
          <a:prstGeom prst="ellipse">
            <a:avLst/>
          </a:prstGeom>
          <a:solidFill>
            <a:srgbClr val="1E2761"/>
          </a:solidFill>
          <a:ln/>
        </p:spPr>
      </p:sp>
      <p:pic>
        <p:nvPicPr>
          <p:cNvPr id="6" name="Image 0" descr="/home/claude/exim_deck/icons/code.png">    </p:cNvPr>
          <p:cNvPicPr>
            <a:picLocks noChangeAspect="1"/>
          </p:cNvPicPr>
          <p:nvPr/>
        </p:nvPicPr>
        <p:blipFill>
          <a:blip r:embed="rId1"/>
          <a:stretch>
            <a:fillRect/>
          </a:stretch>
        </p:blipFill>
        <p:spPr>
          <a:xfrm>
            <a:off x="2104034" y="1692554"/>
            <a:ext cx="473659" cy="473659"/>
          </a:xfrm>
          <a:prstGeom prst="rect">
            <a:avLst/>
          </a:prstGeom>
        </p:spPr>
      </p:pic>
      <p:sp>
        <p:nvSpPr>
          <p:cNvPr id="7" name="Text 4"/>
          <p:cNvSpPr/>
          <p:nvPr/>
        </p:nvSpPr>
        <p:spPr>
          <a:xfrm>
            <a:off x="685800" y="2331720"/>
            <a:ext cx="3310128"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Technical Learning</a:t>
            </a:r>
            <a:endParaRPr lang="en-US" sz="1350" dirty="0"/>
          </a:p>
        </p:txBody>
      </p:sp>
      <p:sp>
        <p:nvSpPr>
          <p:cNvPr id="8" name="Text 5"/>
          <p:cNvSpPr/>
          <p:nvPr/>
        </p:nvSpPr>
        <p:spPr>
          <a:xfrm>
            <a:off x="841248" y="2743200"/>
            <a:ext cx="3035808" cy="1920240"/>
          </a:xfrm>
          <a:prstGeom prst="rect">
            <a:avLst/>
          </a:prstGeom>
          <a:noFill/>
          <a:ln/>
        </p:spPr>
        <p:txBody>
          <a:bodyPr wrap="square" lIns="0" tIns="0" rIns="0" bIns="0" rtlCol="0" anchor="ctr"/>
          <a:lstStyle/>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Python fundamentals</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SQL querying</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Power Query</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DAX</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Data visualization</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Dashboard development</a:t>
            </a:r>
            <a:endParaRPr lang="en-US" sz="1100" dirty="0"/>
          </a:p>
        </p:txBody>
      </p:sp>
      <p:sp>
        <p:nvSpPr>
          <p:cNvPr id="9" name="Shape 6"/>
          <p:cNvSpPr/>
          <p:nvPr/>
        </p:nvSpPr>
        <p:spPr>
          <a:xfrm>
            <a:off x="4288536" y="1371600"/>
            <a:ext cx="3584448" cy="3429000"/>
          </a:xfrm>
          <a:prstGeom prst="roundRect">
            <a:avLst>
              <a:gd name="adj" fmla="val 2133"/>
            </a:avLst>
          </a:prstGeom>
          <a:solidFill>
            <a:srgbClr val="F4F6FC"/>
          </a:solidFill>
          <a:ln w="12700">
            <a:solidFill>
              <a:srgbClr val="DDE3F2"/>
            </a:solidFill>
            <a:prstDash val="solid"/>
          </a:ln>
        </p:spPr>
      </p:sp>
      <p:sp>
        <p:nvSpPr>
          <p:cNvPr id="10" name="Shape 7"/>
          <p:cNvSpPr/>
          <p:nvPr/>
        </p:nvSpPr>
        <p:spPr>
          <a:xfrm>
            <a:off x="5760720" y="1609344"/>
            <a:ext cx="640080" cy="640080"/>
          </a:xfrm>
          <a:prstGeom prst="ellipse">
            <a:avLst/>
          </a:prstGeom>
          <a:solidFill>
            <a:srgbClr val="1E2761"/>
          </a:solidFill>
          <a:ln/>
        </p:spPr>
      </p:sp>
      <p:pic>
        <p:nvPicPr>
          <p:cNvPr id="11" name="Image 1" descr="/home/claude/exim_deck/icons/brain.png">    </p:cNvPr>
          <p:cNvPicPr>
            <a:picLocks noChangeAspect="1"/>
          </p:cNvPicPr>
          <p:nvPr/>
        </p:nvPicPr>
        <p:blipFill>
          <a:blip r:embed="rId2"/>
          <a:stretch>
            <a:fillRect/>
          </a:stretch>
        </p:blipFill>
        <p:spPr>
          <a:xfrm>
            <a:off x="5843930" y="1692554"/>
            <a:ext cx="473659" cy="473659"/>
          </a:xfrm>
          <a:prstGeom prst="rect">
            <a:avLst/>
          </a:prstGeom>
        </p:spPr>
      </p:pic>
      <p:sp>
        <p:nvSpPr>
          <p:cNvPr id="12" name="Text 8"/>
          <p:cNvSpPr/>
          <p:nvPr/>
        </p:nvSpPr>
        <p:spPr>
          <a:xfrm>
            <a:off x="4425696" y="2331720"/>
            <a:ext cx="3310128"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Analytical Learning</a:t>
            </a:r>
            <a:endParaRPr lang="en-US" sz="1350" dirty="0"/>
          </a:p>
        </p:txBody>
      </p:sp>
      <p:sp>
        <p:nvSpPr>
          <p:cNvPr id="13" name="Text 9"/>
          <p:cNvSpPr/>
          <p:nvPr/>
        </p:nvSpPr>
        <p:spPr>
          <a:xfrm>
            <a:off x="4581144" y="2743200"/>
            <a:ext cx="3035808" cy="1920240"/>
          </a:xfrm>
          <a:prstGeom prst="rect">
            <a:avLst/>
          </a:prstGeom>
          <a:noFill/>
          <a:ln/>
        </p:spPr>
        <p:txBody>
          <a:bodyPr wrap="square" lIns="0" tIns="0" rIns="0" bIns="0" rtlCol="0" anchor="ctr"/>
          <a:lstStyle/>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Data cleaning</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Exploratory analysis</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KPI selection</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Choosing appropriate visuals</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Finding patterns &amp; trends</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Converting data into insights</a:t>
            </a:r>
            <a:endParaRPr lang="en-US" sz="1100" dirty="0"/>
          </a:p>
        </p:txBody>
      </p:sp>
      <p:sp>
        <p:nvSpPr>
          <p:cNvPr id="14" name="Shape 10"/>
          <p:cNvSpPr/>
          <p:nvPr/>
        </p:nvSpPr>
        <p:spPr>
          <a:xfrm>
            <a:off x="8028432" y="1371600"/>
            <a:ext cx="3584448" cy="3429000"/>
          </a:xfrm>
          <a:prstGeom prst="roundRect">
            <a:avLst>
              <a:gd name="adj" fmla="val 2133"/>
            </a:avLst>
          </a:prstGeom>
          <a:solidFill>
            <a:srgbClr val="F4F6FC"/>
          </a:solidFill>
          <a:ln w="12700">
            <a:solidFill>
              <a:srgbClr val="DDE3F2"/>
            </a:solidFill>
            <a:prstDash val="solid"/>
          </a:ln>
        </p:spPr>
      </p:sp>
      <p:sp>
        <p:nvSpPr>
          <p:cNvPr id="15" name="Shape 11"/>
          <p:cNvSpPr/>
          <p:nvPr/>
        </p:nvSpPr>
        <p:spPr>
          <a:xfrm>
            <a:off x="9500616" y="1609344"/>
            <a:ext cx="640080" cy="640080"/>
          </a:xfrm>
          <a:prstGeom prst="ellipse">
            <a:avLst/>
          </a:prstGeom>
          <a:solidFill>
            <a:srgbClr val="1E2761"/>
          </a:solidFill>
          <a:ln/>
        </p:spPr>
      </p:sp>
      <p:pic>
        <p:nvPicPr>
          <p:cNvPr id="16" name="Image 2" descr="/home/claude/exim_deck/icons/users.png">    </p:cNvPr>
          <p:cNvPicPr>
            <a:picLocks noChangeAspect="1"/>
          </p:cNvPicPr>
          <p:nvPr/>
        </p:nvPicPr>
        <p:blipFill>
          <a:blip r:embed="rId3"/>
          <a:stretch>
            <a:fillRect/>
          </a:stretch>
        </p:blipFill>
        <p:spPr>
          <a:xfrm>
            <a:off x="9583826" y="1692554"/>
            <a:ext cx="473659" cy="473659"/>
          </a:xfrm>
          <a:prstGeom prst="rect">
            <a:avLst/>
          </a:prstGeom>
        </p:spPr>
      </p:pic>
      <p:sp>
        <p:nvSpPr>
          <p:cNvPr id="17" name="Text 12"/>
          <p:cNvSpPr/>
          <p:nvPr/>
        </p:nvSpPr>
        <p:spPr>
          <a:xfrm>
            <a:off x="8165592" y="2331720"/>
            <a:ext cx="3310128" cy="365760"/>
          </a:xfrm>
          <a:prstGeom prst="rect">
            <a:avLst/>
          </a:prstGeom>
          <a:noFill/>
          <a:ln/>
        </p:spPr>
        <p:txBody>
          <a:bodyPr wrap="square" lIns="0" tIns="0" rIns="0" bIns="0" rtlCol="0" anchor="ctr"/>
          <a:lstStyle/>
          <a:p>
            <a:pPr algn="ctr" indent="0" marL="0">
              <a:buNone/>
            </a:pPr>
            <a:r>
              <a:rPr lang="en-US" sz="1350" b="1" dirty="0">
                <a:solidFill>
                  <a:srgbClr val="1E2761"/>
                </a:solidFill>
                <a:latin typeface="Calibri" pitchFamily="34" charset="0"/>
                <a:ea typeface="Calibri" pitchFamily="34" charset="-122"/>
                <a:cs typeface="Calibri" pitchFamily="34" charset="-120"/>
              </a:rPr>
              <a:t>Professional Learning</a:t>
            </a:r>
            <a:endParaRPr lang="en-US" sz="1350" dirty="0"/>
          </a:p>
        </p:txBody>
      </p:sp>
      <p:sp>
        <p:nvSpPr>
          <p:cNvPr id="18" name="Text 13"/>
          <p:cNvSpPr/>
          <p:nvPr/>
        </p:nvSpPr>
        <p:spPr>
          <a:xfrm>
            <a:off x="8321040" y="2743200"/>
            <a:ext cx="3035808" cy="1920240"/>
          </a:xfrm>
          <a:prstGeom prst="rect">
            <a:avLst/>
          </a:prstGeom>
          <a:noFill/>
          <a:ln/>
        </p:spPr>
        <p:txBody>
          <a:bodyPr wrap="square" lIns="0" tIns="0" rIns="0" bIns="0" rtlCol="0" anchor="ctr"/>
          <a:lstStyle/>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Team collaboration</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Task division</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Problem solving</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Presentation skills</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Explaining technical work</a:t>
            </a:r>
            <a:endParaRPr lang="en-US" sz="1100" dirty="0"/>
          </a:p>
          <a:p>
            <a:pPr marL="342900" indent="-342900">
              <a:lnSpc>
                <a:spcPct val="108000"/>
              </a:lnSpc>
              <a:spcAft>
                <a:spcPts val="700"/>
              </a:spcAft>
              <a:buSzPct val="100000"/>
              <a:buChar char="•"/>
            </a:pPr>
            <a:r>
              <a:rPr lang="en-US" sz="1100" dirty="0">
                <a:solidFill>
                  <a:srgbClr val="17191F"/>
                </a:solidFill>
                <a:latin typeface="Calibri" pitchFamily="34" charset="0"/>
                <a:ea typeface="Calibri" pitchFamily="34" charset="-122"/>
                <a:cs typeface="Calibri" pitchFamily="34" charset="-120"/>
              </a:rPr>
              <a:t>Data-driven decision making</a:t>
            </a:r>
            <a:endParaRPr lang="en-US" sz="1100" dirty="0"/>
          </a:p>
        </p:txBody>
      </p:sp>
      <p:sp>
        <p:nvSpPr>
          <p:cNvPr id="19" name="Shape 14"/>
          <p:cNvSpPr/>
          <p:nvPr/>
        </p:nvSpPr>
        <p:spPr>
          <a:xfrm>
            <a:off x="548640" y="5029200"/>
            <a:ext cx="11064240" cy="960120"/>
          </a:xfrm>
          <a:prstGeom prst="roundRect">
            <a:avLst>
              <a:gd name="adj" fmla="val 7619"/>
            </a:avLst>
          </a:prstGeom>
          <a:solidFill>
            <a:srgbClr val="1E2761"/>
          </a:solidFill>
          <a:ln/>
        </p:spPr>
      </p:sp>
      <p:pic>
        <p:nvPicPr>
          <p:cNvPr id="20" name="Image 3" descr="/home/claude/exim_deck/icons/quote.png">    </p:cNvPr>
          <p:cNvPicPr>
            <a:picLocks noChangeAspect="1"/>
          </p:cNvPicPr>
          <p:nvPr/>
        </p:nvPicPr>
        <p:blipFill>
          <a:blip r:embed="rId4"/>
          <a:stretch>
            <a:fillRect/>
          </a:stretch>
        </p:blipFill>
        <p:spPr>
          <a:xfrm>
            <a:off x="777240" y="5248656"/>
            <a:ext cx="502920" cy="502920"/>
          </a:xfrm>
          <a:prstGeom prst="rect">
            <a:avLst/>
          </a:prstGeom>
        </p:spPr>
      </p:pic>
      <p:sp>
        <p:nvSpPr>
          <p:cNvPr id="21" name="Text 15"/>
          <p:cNvSpPr/>
          <p:nvPr/>
        </p:nvSpPr>
        <p:spPr>
          <a:xfrm>
            <a:off x="1417320" y="5029200"/>
            <a:ext cx="9966960" cy="960120"/>
          </a:xfrm>
          <a:prstGeom prst="rect">
            <a:avLst/>
          </a:prstGeom>
          <a:noFill/>
          <a:ln/>
        </p:spPr>
        <p:txBody>
          <a:bodyPr wrap="square" lIns="0" tIns="0" rIns="0" bIns="0" rtlCol="0" anchor="ctr"/>
          <a:lstStyle/>
          <a:p>
            <a:pPr indent="0" marL="0">
              <a:buNone/>
            </a:pPr>
            <a:r>
              <a:rPr lang="en-US" sz="1350" i="1" dirty="0">
                <a:solidFill>
                  <a:srgbClr val="FFFFFF"/>
                </a:solidFill>
                <a:latin typeface="Cambria" pitchFamily="34" charset="0"/>
                <a:ea typeface="Cambria" pitchFamily="34" charset="-122"/>
                <a:cs typeface="Cambria" pitchFamily="34" charset="-120"/>
              </a:rPr>
              <a:t>"Data analytics is not only about creating charts — it is about converting raw data into meaningful information that supports decisions."</a:t>
            </a:r>
            <a:endParaRPr lang="en-US" sz="1350" dirty="0"/>
          </a:p>
        </p:txBody>
      </p:sp>
      <p:sp>
        <p:nvSpPr>
          <p:cNvPr id="22" name="Text 1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5A6072"/>
                </a:solidFill>
                <a:latin typeface="Calibri" pitchFamily="34" charset="0"/>
                <a:ea typeface="Calibri" pitchFamily="34" charset="-122"/>
                <a:cs typeface="Calibri" pitchFamily="34" charset="-120"/>
              </a:rPr>
              <a:t>PETV103 · Summer Internship SDC</a:t>
            </a:r>
            <a:endParaRPr lang="en-US" sz="900" dirty="0"/>
          </a:p>
        </p:txBody>
      </p:sp>
      <p:sp>
        <p:nvSpPr>
          <p:cNvPr id="23"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A60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4D"/>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E2761">
              <a:alpha val="60000"/>
            </a:srgbClr>
          </a:solidFill>
          <a:ln/>
        </p:spPr>
      </p:sp>
      <p:sp>
        <p:nvSpPr>
          <p:cNvPr id="3" name="Shape 1"/>
          <p:cNvSpPr/>
          <p:nvPr/>
        </p:nvSpPr>
        <p:spPr>
          <a:xfrm>
            <a:off x="9601200" y="3474720"/>
            <a:ext cx="5029200" cy="5029200"/>
          </a:xfrm>
          <a:prstGeom prst="ellipse">
            <a:avLst/>
          </a:prstGeom>
          <a:solidFill>
            <a:srgbClr val="1E2761">
              <a:alpha val="55000"/>
            </a:srgbClr>
          </a:solidFill>
          <a:ln/>
        </p:spPr>
      </p:sp>
      <p:sp>
        <p:nvSpPr>
          <p:cNvPr id="4" name="Text 2"/>
          <p:cNvSpPr/>
          <p:nvPr/>
        </p:nvSpPr>
        <p:spPr>
          <a:xfrm>
            <a:off x="548640" y="384048"/>
            <a:ext cx="914400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WRAP-UP</a:t>
            </a:r>
            <a:endParaRPr lang="en-US" sz="1200" dirty="0"/>
          </a:p>
        </p:txBody>
      </p:sp>
      <p:sp>
        <p:nvSpPr>
          <p:cNvPr id="5" name="Text 3"/>
          <p:cNvSpPr/>
          <p:nvPr/>
        </p:nvSpPr>
        <p:spPr>
          <a:xfrm>
            <a:off x="548640" y="658368"/>
            <a:ext cx="10789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 &amp; Future Scope</a:t>
            </a:r>
            <a:endParaRPr lang="en-US" sz="3200" dirty="0"/>
          </a:p>
        </p:txBody>
      </p:sp>
      <p:sp>
        <p:nvSpPr>
          <p:cNvPr id="6" name="Text 4"/>
          <p:cNvSpPr/>
          <p:nvPr/>
        </p:nvSpPr>
        <p:spPr>
          <a:xfrm>
            <a:off x="548640" y="1371600"/>
            <a:ext cx="11064240" cy="1097280"/>
          </a:xfrm>
          <a:prstGeom prst="rect">
            <a:avLst/>
          </a:prstGeom>
          <a:noFill/>
          <a:ln/>
        </p:spPr>
        <p:txBody>
          <a:bodyPr wrap="square" lIns="0" tIns="0" rIns="0" bIns="0" rtlCol="0" anchor="ctr"/>
          <a:lstStyle/>
          <a:p>
            <a:pPr indent="0" marL="0">
              <a:lnSpc>
                <a:spcPct val="125000"/>
              </a:lnSpc>
              <a:buNone/>
            </a:pPr>
            <a:r>
              <a:rPr lang="en-US" sz="1300" i="1" dirty="0">
                <a:solidFill>
                  <a:srgbClr val="CADCFC"/>
                </a:solidFill>
                <a:latin typeface="Calibri" pitchFamily="34" charset="0"/>
                <a:ea typeface="Calibri" pitchFamily="34" charset="-122"/>
                <a:cs typeface="Calibri" pitchFamily="34" charset="-120"/>
              </a:rPr>
              <a:t>The PETV103 Summer Internship SDC course gave me practical exposure to the complete data analytics workflow — from data preparation and querying to visualization and business intelligence. The EXIM Bank project let me apply these concepts to a real-world financial dataset and build an interactive Power BI dashboard.</a:t>
            </a:r>
            <a:endParaRPr lang="en-US" sz="1300" dirty="0"/>
          </a:p>
        </p:txBody>
      </p:sp>
      <p:sp>
        <p:nvSpPr>
          <p:cNvPr id="7" name="Text 5"/>
          <p:cNvSpPr/>
          <p:nvPr/>
        </p:nvSpPr>
        <p:spPr>
          <a:xfrm>
            <a:off x="548640" y="2514600"/>
            <a:ext cx="45720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Future Scope</a:t>
            </a:r>
            <a:endParaRPr lang="en-US" sz="1300" dirty="0"/>
          </a:p>
        </p:txBody>
      </p:sp>
      <p:sp>
        <p:nvSpPr>
          <p:cNvPr id="8" name="Shape 6"/>
          <p:cNvSpPr/>
          <p:nvPr/>
        </p:nvSpPr>
        <p:spPr>
          <a:xfrm>
            <a:off x="548640" y="2871216"/>
            <a:ext cx="5394960" cy="347472"/>
          </a:xfrm>
          <a:prstGeom prst="roundRect">
            <a:avLst>
              <a:gd name="adj" fmla="val 15789"/>
            </a:avLst>
          </a:prstGeom>
          <a:solidFill>
            <a:srgbClr val="1E2761">
              <a:alpha val="80000"/>
            </a:srgbClr>
          </a:solidFill>
          <a:ln w="12700">
            <a:solidFill>
              <a:srgbClr val="3C4693"/>
            </a:solidFill>
            <a:prstDash val="solid"/>
          </a:ln>
        </p:spPr>
      </p:sp>
      <p:sp>
        <p:nvSpPr>
          <p:cNvPr id="9" name="Shape 7"/>
          <p:cNvSpPr/>
          <p:nvPr/>
        </p:nvSpPr>
        <p:spPr>
          <a:xfrm>
            <a:off x="694944" y="2990088"/>
            <a:ext cx="109728" cy="109728"/>
          </a:xfrm>
          <a:prstGeom prst="ellipse">
            <a:avLst/>
          </a:prstGeom>
          <a:solidFill>
            <a:srgbClr val="CADCFC"/>
          </a:solidFill>
          <a:ln/>
        </p:spPr>
      </p:sp>
      <p:sp>
        <p:nvSpPr>
          <p:cNvPr id="10" name="Text 8"/>
          <p:cNvSpPr/>
          <p:nvPr/>
        </p:nvSpPr>
        <p:spPr>
          <a:xfrm>
            <a:off x="914400" y="2871216"/>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Advanced DAX</a:t>
            </a:r>
            <a:endParaRPr lang="en-US" sz="1130" dirty="0"/>
          </a:p>
        </p:txBody>
      </p:sp>
      <p:sp>
        <p:nvSpPr>
          <p:cNvPr id="11" name="Shape 9"/>
          <p:cNvSpPr/>
          <p:nvPr/>
        </p:nvSpPr>
        <p:spPr>
          <a:xfrm>
            <a:off x="6217920" y="2871216"/>
            <a:ext cx="5394960" cy="347472"/>
          </a:xfrm>
          <a:prstGeom prst="roundRect">
            <a:avLst>
              <a:gd name="adj" fmla="val 15789"/>
            </a:avLst>
          </a:prstGeom>
          <a:solidFill>
            <a:srgbClr val="1E2761">
              <a:alpha val="80000"/>
            </a:srgbClr>
          </a:solidFill>
          <a:ln w="12700">
            <a:solidFill>
              <a:srgbClr val="3C4693"/>
            </a:solidFill>
            <a:prstDash val="solid"/>
          </a:ln>
        </p:spPr>
      </p:sp>
      <p:sp>
        <p:nvSpPr>
          <p:cNvPr id="12" name="Shape 10"/>
          <p:cNvSpPr/>
          <p:nvPr/>
        </p:nvSpPr>
        <p:spPr>
          <a:xfrm>
            <a:off x="6364224" y="2990088"/>
            <a:ext cx="109728" cy="109728"/>
          </a:xfrm>
          <a:prstGeom prst="ellipse">
            <a:avLst/>
          </a:prstGeom>
          <a:solidFill>
            <a:srgbClr val="CADCFC"/>
          </a:solidFill>
          <a:ln/>
        </p:spPr>
      </p:sp>
      <p:sp>
        <p:nvSpPr>
          <p:cNvPr id="13" name="Text 11"/>
          <p:cNvSpPr/>
          <p:nvPr/>
        </p:nvSpPr>
        <p:spPr>
          <a:xfrm>
            <a:off x="6583680" y="2871216"/>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Year-over-Year analysis</a:t>
            </a:r>
            <a:endParaRPr lang="en-US" sz="1130" dirty="0"/>
          </a:p>
        </p:txBody>
      </p:sp>
      <p:sp>
        <p:nvSpPr>
          <p:cNvPr id="14" name="Shape 12"/>
          <p:cNvSpPr/>
          <p:nvPr/>
        </p:nvSpPr>
        <p:spPr>
          <a:xfrm>
            <a:off x="548640" y="3337560"/>
            <a:ext cx="5394960" cy="347472"/>
          </a:xfrm>
          <a:prstGeom prst="roundRect">
            <a:avLst>
              <a:gd name="adj" fmla="val 15789"/>
            </a:avLst>
          </a:prstGeom>
          <a:solidFill>
            <a:srgbClr val="1E2761">
              <a:alpha val="80000"/>
            </a:srgbClr>
          </a:solidFill>
          <a:ln w="12700">
            <a:solidFill>
              <a:srgbClr val="3C4693"/>
            </a:solidFill>
            <a:prstDash val="solid"/>
          </a:ln>
        </p:spPr>
      </p:sp>
      <p:sp>
        <p:nvSpPr>
          <p:cNvPr id="15" name="Shape 13"/>
          <p:cNvSpPr/>
          <p:nvPr/>
        </p:nvSpPr>
        <p:spPr>
          <a:xfrm>
            <a:off x="694944" y="3456432"/>
            <a:ext cx="109728" cy="109728"/>
          </a:xfrm>
          <a:prstGeom prst="ellipse">
            <a:avLst/>
          </a:prstGeom>
          <a:solidFill>
            <a:srgbClr val="CADCFC"/>
          </a:solidFill>
          <a:ln/>
        </p:spPr>
      </p:sp>
      <p:sp>
        <p:nvSpPr>
          <p:cNvPr id="16" name="Text 14"/>
          <p:cNvSpPr/>
          <p:nvPr/>
        </p:nvSpPr>
        <p:spPr>
          <a:xfrm>
            <a:off x="914400" y="3337560"/>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Forecasting</a:t>
            </a:r>
            <a:endParaRPr lang="en-US" sz="1130" dirty="0"/>
          </a:p>
        </p:txBody>
      </p:sp>
      <p:sp>
        <p:nvSpPr>
          <p:cNvPr id="17" name="Shape 15"/>
          <p:cNvSpPr/>
          <p:nvPr/>
        </p:nvSpPr>
        <p:spPr>
          <a:xfrm>
            <a:off x="6217920" y="3337560"/>
            <a:ext cx="5394960" cy="347472"/>
          </a:xfrm>
          <a:prstGeom prst="roundRect">
            <a:avLst>
              <a:gd name="adj" fmla="val 15789"/>
            </a:avLst>
          </a:prstGeom>
          <a:solidFill>
            <a:srgbClr val="1E2761">
              <a:alpha val="80000"/>
            </a:srgbClr>
          </a:solidFill>
          <a:ln w="12700">
            <a:solidFill>
              <a:srgbClr val="3C4693"/>
            </a:solidFill>
            <a:prstDash val="solid"/>
          </a:ln>
        </p:spPr>
      </p:sp>
      <p:sp>
        <p:nvSpPr>
          <p:cNvPr id="18" name="Shape 16"/>
          <p:cNvSpPr/>
          <p:nvPr/>
        </p:nvSpPr>
        <p:spPr>
          <a:xfrm>
            <a:off x="6364224" y="3456432"/>
            <a:ext cx="109728" cy="109728"/>
          </a:xfrm>
          <a:prstGeom prst="ellipse">
            <a:avLst/>
          </a:prstGeom>
          <a:solidFill>
            <a:srgbClr val="CADCFC"/>
          </a:solidFill>
          <a:ln/>
        </p:spPr>
      </p:sp>
      <p:sp>
        <p:nvSpPr>
          <p:cNvPr id="19" name="Text 17"/>
          <p:cNvSpPr/>
          <p:nvPr/>
        </p:nvSpPr>
        <p:spPr>
          <a:xfrm>
            <a:off x="6583680" y="3337560"/>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Risk &amp; exposure analysis</a:t>
            </a:r>
            <a:endParaRPr lang="en-US" sz="1130" dirty="0"/>
          </a:p>
        </p:txBody>
      </p:sp>
      <p:sp>
        <p:nvSpPr>
          <p:cNvPr id="20" name="Shape 18"/>
          <p:cNvSpPr/>
          <p:nvPr/>
        </p:nvSpPr>
        <p:spPr>
          <a:xfrm>
            <a:off x="548640" y="3803904"/>
            <a:ext cx="5394960" cy="347472"/>
          </a:xfrm>
          <a:prstGeom prst="roundRect">
            <a:avLst>
              <a:gd name="adj" fmla="val 15789"/>
            </a:avLst>
          </a:prstGeom>
          <a:solidFill>
            <a:srgbClr val="1E2761">
              <a:alpha val="80000"/>
            </a:srgbClr>
          </a:solidFill>
          <a:ln w="12700">
            <a:solidFill>
              <a:srgbClr val="3C4693"/>
            </a:solidFill>
            <a:prstDash val="solid"/>
          </a:ln>
        </p:spPr>
      </p:sp>
      <p:sp>
        <p:nvSpPr>
          <p:cNvPr id="21" name="Shape 19"/>
          <p:cNvSpPr/>
          <p:nvPr/>
        </p:nvSpPr>
        <p:spPr>
          <a:xfrm>
            <a:off x="694944" y="3922776"/>
            <a:ext cx="109728" cy="109728"/>
          </a:xfrm>
          <a:prstGeom prst="ellipse">
            <a:avLst/>
          </a:prstGeom>
          <a:solidFill>
            <a:srgbClr val="CADCFC"/>
          </a:solidFill>
          <a:ln/>
        </p:spPr>
      </p:sp>
      <p:sp>
        <p:nvSpPr>
          <p:cNvPr id="22" name="Text 20"/>
          <p:cNvSpPr/>
          <p:nvPr/>
        </p:nvSpPr>
        <p:spPr>
          <a:xfrm>
            <a:off x="914400" y="3803904"/>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Advanced Power BI dashboards</a:t>
            </a:r>
            <a:endParaRPr lang="en-US" sz="1130" dirty="0"/>
          </a:p>
        </p:txBody>
      </p:sp>
      <p:sp>
        <p:nvSpPr>
          <p:cNvPr id="23" name="Shape 21"/>
          <p:cNvSpPr/>
          <p:nvPr/>
        </p:nvSpPr>
        <p:spPr>
          <a:xfrm>
            <a:off x="6217920" y="3803904"/>
            <a:ext cx="5394960" cy="347472"/>
          </a:xfrm>
          <a:prstGeom prst="roundRect">
            <a:avLst>
              <a:gd name="adj" fmla="val 15789"/>
            </a:avLst>
          </a:prstGeom>
          <a:solidFill>
            <a:srgbClr val="1E2761">
              <a:alpha val="80000"/>
            </a:srgbClr>
          </a:solidFill>
          <a:ln w="12700">
            <a:solidFill>
              <a:srgbClr val="3C4693"/>
            </a:solidFill>
            <a:prstDash val="solid"/>
          </a:ln>
        </p:spPr>
      </p:sp>
      <p:sp>
        <p:nvSpPr>
          <p:cNvPr id="24" name="Shape 22"/>
          <p:cNvSpPr/>
          <p:nvPr/>
        </p:nvSpPr>
        <p:spPr>
          <a:xfrm>
            <a:off x="6364224" y="3922776"/>
            <a:ext cx="109728" cy="109728"/>
          </a:xfrm>
          <a:prstGeom prst="ellipse">
            <a:avLst/>
          </a:prstGeom>
          <a:solidFill>
            <a:srgbClr val="CADCFC"/>
          </a:solidFill>
          <a:ln/>
        </p:spPr>
      </p:sp>
      <p:sp>
        <p:nvSpPr>
          <p:cNvPr id="25" name="Text 23"/>
          <p:cNvSpPr/>
          <p:nvPr/>
        </p:nvSpPr>
        <p:spPr>
          <a:xfrm>
            <a:off x="6583680" y="3803904"/>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Machine learning integration</a:t>
            </a:r>
            <a:endParaRPr lang="en-US" sz="1130" dirty="0"/>
          </a:p>
        </p:txBody>
      </p:sp>
      <p:sp>
        <p:nvSpPr>
          <p:cNvPr id="26" name="Shape 24"/>
          <p:cNvSpPr/>
          <p:nvPr/>
        </p:nvSpPr>
        <p:spPr>
          <a:xfrm>
            <a:off x="548640" y="4270248"/>
            <a:ext cx="5394960" cy="347472"/>
          </a:xfrm>
          <a:prstGeom prst="roundRect">
            <a:avLst>
              <a:gd name="adj" fmla="val 15789"/>
            </a:avLst>
          </a:prstGeom>
          <a:solidFill>
            <a:srgbClr val="1E2761">
              <a:alpha val="80000"/>
            </a:srgbClr>
          </a:solidFill>
          <a:ln w="12700">
            <a:solidFill>
              <a:srgbClr val="3C4693"/>
            </a:solidFill>
            <a:prstDash val="solid"/>
          </a:ln>
        </p:spPr>
      </p:sp>
      <p:sp>
        <p:nvSpPr>
          <p:cNvPr id="27" name="Shape 25"/>
          <p:cNvSpPr/>
          <p:nvPr/>
        </p:nvSpPr>
        <p:spPr>
          <a:xfrm>
            <a:off x="694944" y="4389120"/>
            <a:ext cx="109728" cy="109728"/>
          </a:xfrm>
          <a:prstGeom prst="ellipse">
            <a:avLst/>
          </a:prstGeom>
          <a:solidFill>
            <a:srgbClr val="CADCFC"/>
          </a:solidFill>
          <a:ln/>
        </p:spPr>
      </p:sp>
      <p:sp>
        <p:nvSpPr>
          <p:cNvPr id="28" name="Text 26"/>
          <p:cNvSpPr/>
          <p:nvPr/>
        </p:nvSpPr>
        <p:spPr>
          <a:xfrm>
            <a:off x="914400" y="4270248"/>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Automated reporting</a:t>
            </a:r>
            <a:endParaRPr lang="en-US" sz="1130" dirty="0"/>
          </a:p>
        </p:txBody>
      </p:sp>
      <p:sp>
        <p:nvSpPr>
          <p:cNvPr id="29" name="Shape 27"/>
          <p:cNvSpPr/>
          <p:nvPr/>
        </p:nvSpPr>
        <p:spPr>
          <a:xfrm>
            <a:off x="6217920" y="4270248"/>
            <a:ext cx="5394960" cy="347472"/>
          </a:xfrm>
          <a:prstGeom prst="roundRect">
            <a:avLst>
              <a:gd name="adj" fmla="val 15789"/>
            </a:avLst>
          </a:prstGeom>
          <a:solidFill>
            <a:srgbClr val="1E2761">
              <a:alpha val="80000"/>
            </a:srgbClr>
          </a:solidFill>
          <a:ln w="12700">
            <a:solidFill>
              <a:srgbClr val="3C4693"/>
            </a:solidFill>
            <a:prstDash val="solid"/>
          </a:ln>
        </p:spPr>
      </p:sp>
      <p:sp>
        <p:nvSpPr>
          <p:cNvPr id="30" name="Shape 28"/>
          <p:cNvSpPr/>
          <p:nvPr/>
        </p:nvSpPr>
        <p:spPr>
          <a:xfrm>
            <a:off x="6364224" y="4389120"/>
            <a:ext cx="109728" cy="109728"/>
          </a:xfrm>
          <a:prstGeom prst="ellipse">
            <a:avLst/>
          </a:prstGeom>
          <a:solidFill>
            <a:srgbClr val="CADCFC"/>
          </a:solidFill>
          <a:ln/>
        </p:spPr>
      </p:sp>
      <p:sp>
        <p:nvSpPr>
          <p:cNvPr id="31" name="Text 29"/>
          <p:cNvSpPr/>
          <p:nvPr/>
        </p:nvSpPr>
        <p:spPr>
          <a:xfrm>
            <a:off x="6583680" y="4270248"/>
            <a:ext cx="4892040" cy="347472"/>
          </a:xfrm>
          <a:prstGeom prst="rect">
            <a:avLst/>
          </a:prstGeom>
          <a:noFill/>
          <a:ln/>
        </p:spPr>
        <p:txBody>
          <a:bodyPr wrap="square" lIns="0" tIns="0" rIns="0" bIns="0" rtlCol="0" anchor="ctr"/>
          <a:lstStyle/>
          <a:p>
            <a:pPr indent="0" marL="0">
              <a:buNone/>
            </a:pPr>
            <a:r>
              <a:rPr lang="en-US" sz="1130" dirty="0">
                <a:solidFill>
                  <a:srgbClr val="FFFFFF"/>
                </a:solidFill>
                <a:latin typeface="Calibri" pitchFamily="34" charset="0"/>
                <a:ea typeface="Calibri" pitchFamily="34" charset="-122"/>
                <a:cs typeface="Calibri" pitchFamily="34" charset="-120"/>
              </a:rPr>
              <a:t>Advanced data modeling</a:t>
            </a:r>
            <a:endParaRPr lang="en-US" sz="1130" dirty="0"/>
          </a:p>
        </p:txBody>
      </p:sp>
      <p:sp>
        <p:nvSpPr>
          <p:cNvPr id="32" name="Shape 30"/>
          <p:cNvSpPr/>
          <p:nvPr/>
        </p:nvSpPr>
        <p:spPr>
          <a:xfrm>
            <a:off x="548640" y="5257800"/>
            <a:ext cx="11064240" cy="0"/>
          </a:xfrm>
          <a:prstGeom prst="line">
            <a:avLst/>
          </a:prstGeom>
          <a:noFill/>
          <a:ln w="12700">
            <a:solidFill>
              <a:srgbClr val="3C4693"/>
            </a:solidFill>
            <a:prstDash val="solid"/>
          </a:ln>
        </p:spPr>
      </p:sp>
      <p:sp>
        <p:nvSpPr>
          <p:cNvPr id="33" name="Text 31"/>
          <p:cNvSpPr/>
          <p:nvPr/>
        </p:nvSpPr>
        <p:spPr>
          <a:xfrm>
            <a:off x="548640" y="5404104"/>
            <a:ext cx="54864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Thank You</a:t>
            </a:r>
            <a:endParaRPr lang="en-US" sz="2600" dirty="0"/>
          </a:p>
        </p:txBody>
      </p:sp>
      <p:sp>
        <p:nvSpPr>
          <p:cNvPr id="34" name="Text 32"/>
          <p:cNvSpPr/>
          <p:nvPr/>
        </p:nvSpPr>
        <p:spPr>
          <a:xfrm>
            <a:off x="548640" y="5916168"/>
            <a:ext cx="7315200" cy="320040"/>
          </a:xfrm>
          <a:prstGeom prst="rect">
            <a:avLst/>
          </a:prstGeom>
          <a:noFill/>
          <a:ln/>
        </p:spPr>
        <p:txBody>
          <a:bodyPr wrap="square" lIns="0" tIns="0" rIns="0" bIns="0" rtlCol="0" anchor="ctr"/>
          <a:lstStyle/>
          <a:p>
            <a:pPr indent="0" marL="0">
              <a:buNone/>
            </a:pPr>
            <a:r>
              <a:rPr lang="en-US" sz="1350" i="1" dirty="0">
                <a:solidFill>
                  <a:srgbClr val="CADCFC"/>
                </a:solidFill>
                <a:latin typeface="Calibri" pitchFamily="34" charset="0"/>
                <a:ea typeface="Calibri" pitchFamily="34" charset="-122"/>
                <a:cs typeface="Calibri" pitchFamily="34" charset="-120"/>
              </a:rPr>
              <a:t>Questions &amp; Viva Discussion</a:t>
            </a:r>
            <a:endParaRPr lang="en-US" sz="135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AAB4D6"/>
                </a:solidFill>
                <a:latin typeface="Calibri" pitchFamily="34" charset="0"/>
                <a:ea typeface="Calibri" pitchFamily="34" charset="-122"/>
                <a:cs typeface="Calibri" pitchFamily="34" charset="-120"/>
              </a:rPr>
              <a:t>PETV103 · Summer Internship SDC</a:t>
            </a:r>
            <a:endParaRPr lang="en-US" sz="900" dirty="0"/>
          </a:p>
        </p:txBody>
      </p:sp>
      <p:sp>
        <p:nvSpPr>
          <p:cNvPr id="36" name="Text 3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AAB4D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2026-08-28T14:36:15Z</dcterms:created>
  <dcterms:modified xsi:type="dcterms:W3CDTF">2026-08-28T14:36:15Z</dcterms:modified>
</cp:coreProperties>
</file>